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314" r:id="rId6"/>
    <p:sldId id="315" r:id="rId7"/>
    <p:sldId id="289" r:id="rId8"/>
    <p:sldId id="318" r:id="rId9"/>
    <p:sldId id="317" r:id="rId10"/>
    <p:sldId id="316" r:id="rId11"/>
    <p:sldId id="309" r:id="rId12"/>
    <p:sldId id="319" r:id="rId13"/>
    <p:sldId id="313" r:id="rId14"/>
    <p:sldId id="320" r:id="rId15"/>
    <p:sldId id="290" r:id="rId16"/>
    <p:sldId id="261" r:id="rId17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6" roundtripDataSignature="AMtx7mgzalF4DGvfEshU7BVqSP7oz0qtV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BF5"/>
    <a:srgbClr val="D0CEC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147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46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48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146485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467488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868540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473913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0000916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4483899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2745609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8292914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8"/>
          <p:cNvSpPr txBox="1">
            <a:spLocks noGrp="1"/>
          </p:cNvSpPr>
          <p:nvPr>
            <p:ph type="ctrTitle"/>
          </p:nvPr>
        </p:nvSpPr>
        <p:spPr>
          <a:xfrm>
            <a:off x="369278" y="3666392"/>
            <a:ext cx="5196254" cy="12836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EE599"/>
              </a:buClr>
              <a:buSzPts val="4500"/>
              <a:buFont typeface="Calibri"/>
              <a:buNone/>
              <a:defRPr sz="4500" b="1">
                <a:solidFill>
                  <a:srgbClr val="FEE599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8"/>
          <p:cNvSpPr txBox="1">
            <a:spLocks noGrp="1"/>
          </p:cNvSpPr>
          <p:nvPr>
            <p:ph type="subTitle" idx="1"/>
          </p:nvPr>
        </p:nvSpPr>
        <p:spPr>
          <a:xfrm>
            <a:off x="369278" y="5178670"/>
            <a:ext cx="484876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2400"/>
              <a:buNone/>
              <a:defRPr sz="2400">
                <a:solidFill>
                  <a:srgbClr val="F2F2F2"/>
                </a:solidFill>
              </a:defRPr>
            </a:lvl1pPr>
            <a:lvl2pPr lvl="1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8"/>
          <p:cNvSpPr txBox="1">
            <a:spLocks noGrp="1"/>
          </p:cNvSpPr>
          <p:nvPr>
            <p:ph type="body" idx="2"/>
          </p:nvPr>
        </p:nvSpPr>
        <p:spPr>
          <a:xfrm>
            <a:off x="369278" y="5794132"/>
            <a:ext cx="4848765" cy="918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000"/>
              <a:buNone/>
              <a:defRPr sz="2000">
                <a:solidFill>
                  <a:srgbClr val="7F7F7F"/>
                </a:solidFill>
              </a:defRPr>
            </a:lvl1pPr>
            <a:lvl2pPr marL="914400" lvl="1" indent="-2286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1371600" lvl="2" indent="-2286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marL="1828800" lvl="3" indent="-2286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9"/>
          <p:cNvSpPr txBox="1">
            <a:spLocks noGrp="1"/>
          </p:cNvSpPr>
          <p:nvPr>
            <p:ph type="title"/>
          </p:nvPr>
        </p:nvSpPr>
        <p:spPr>
          <a:xfrm>
            <a:off x="290146" y="0"/>
            <a:ext cx="7658100" cy="589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  <a:defRPr sz="3600" b="1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9"/>
          <p:cNvSpPr txBox="1">
            <a:spLocks noGrp="1"/>
          </p:cNvSpPr>
          <p:nvPr>
            <p:ph type="body" idx="1"/>
          </p:nvPr>
        </p:nvSpPr>
        <p:spPr>
          <a:xfrm>
            <a:off x="290146" y="861646"/>
            <a:ext cx="8572500" cy="54600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9"/>
          <p:cNvSpPr txBox="1">
            <a:spLocks noGrp="1"/>
          </p:cNvSpPr>
          <p:nvPr>
            <p:ph type="dt" idx="10"/>
          </p:nvPr>
        </p:nvSpPr>
        <p:spPr>
          <a:xfrm>
            <a:off x="7163533" y="6559062"/>
            <a:ext cx="995729" cy="298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9"/>
          <p:cNvSpPr txBox="1">
            <a:spLocks noGrp="1"/>
          </p:cNvSpPr>
          <p:nvPr>
            <p:ph type="ftr" idx="11"/>
          </p:nvPr>
        </p:nvSpPr>
        <p:spPr>
          <a:xfrm>
            <a:off x="290147" y="6559062"/>
            <a:ext cx="6873386" cy="298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9"/>
          <p:cNvSpPr txBox="1">
            <a:spLocks noGrp="1"/>
          </p:cNvSpPr>
          <p:nvPr>
            <p:ph type="sldNum" idx="12"/>
          </p:nvPr>
        </p:nvSpPr>
        <p:spPr>
          <a:xfrm>
            <a:off x="8159262" y="6550271"/>
            <a:ext cx="703384" cy="298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0"/>
          <p:cNvSpPr txBox="1">
            <a:spLocks noGrp="1"/>
          </p:cNvSpPr>
          <p:nvPr>
            <p:ph type="title"/>
          </p:nvPr>
        </p:nvSpPr>
        <p:spPr>
          <a:xfrm>
            <a:off x="307732" y="395654"/>
            <a:ext cx="8449406" cy="5802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1"/>
          <p:cNvSpPr txBox="1"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1"/>
          <p:cNvSpPr txBox="1"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marL="914400" lvl="1" indent="-2286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1"/>
          <p:cNvSpPr txBox="1">
            <a:spLocks noGrp="1"/>
          </p:cNvSpPr>
          <p:nvPr>
            <p:ph type="dt" idx="10"/>
          </p:nvPr>
        </p:nvSpPr>
        <p:spPr>
          <a:xfrm>
            <a:off x="7051429" y="6567854"/>
            <a:ext cx="1301263" cy="290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1"/>
          <p:cNvSpPr txBox="1">
            <a:spLocks noGrp="1"/>
          </p:cNvSpPr>
          <p:nvPr>
            <p:ph type="ftr" idx="11"/>
          </p:nvPr>
        </p:nvSpPr>
        <p:spPr>
          <a:xfrm>
            <a:off x="307731" y="6567855"/>
            <a:ext cx="6743697" cy="2901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1"/>
          <p:cNvSpPr txBox="1">
            <a:spLocks noGrp="1"/>
          </p:cNvSpPr>
          <p:nvPr>
            <p:ph type="sldNum" idx="12"/>
          </p:nvPr>
        </p:nvSpPr>
        <p:spPr>
          <a:xfrm>
            <a:off x="8352692" y="6567854"/>
            <a:ext cx="518746" cy="259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2"/>
          <p:cNvSpPr txBox="1">
            <a:spLocks noGrp="1"/>
          </p:cNvSpPr>
          <p:nvPr>
            <p:ph type="title"/>
          </p:nvPr>
        </p:nvSpPr>
        <p:spPr>
          <a:xfrm>
            <a:off x="307732" y="1"/>
            <a:ext cx="7605346" cy="5802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2"/>
          <p:cNvSpPr txBox="1">
            <a:spLocks noGrp="1"/>
          </p:cNvSpPr>
          <p:nvPr>
            <p:ph type="body" idx="1"/>
          </p:nvPr>
        </p:nvSpPr>
        <p:spPr>
          <a:xfrm>
            <a:off x="628650" y="1046285"/>
            <a:ext cx="3886200" cy="51306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12"/>
          <p:cNvSpPr txBox="1">
            <a:spLocks noGrp="1"/>
          </p:cNvSpPr>
          <p:nvPr>
            <p:ph type="body" idx="2"/>
          </p:nvPr>
        </p:nvSpPr>
        <p:spPr>
          <a:xfrm>
            <a:off x="4629150" y="1046285"/>
            <a:ext cx="3886200" cy="51306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12"/>
          <p:cNvSpPr txBox="1">
            <a:spLocks noGrp="1"/>
          </p:cNvSpPr>
          <p:nvPr>
            <p:ph type="dt" idx="10"/>
          </p:nvPr>
        </p:nvSpPr>
        <p:spPr>
          <a:xfrm>
            <a:off x="7051429" y="6567854"/>
            <a:ext cx="1301263" cy="290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2"/>
          <p:cNvSpPr txBox="1">
            <a:spLocks noGrp="1"/>
          </p:cNvSpPr>
          <p:nvPr>
            <p:ph type="ftr" idx="11"/>
          </p:nvPr>
        </p:nvSpPr>
        <p:spPr>
          <a:xfrm>
            <a:off x="307731" y="6567855"/>
            <a:ext cx="6743697" cy="2901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2"/>
          <p:cNvSpPr txBox="1">
            <a:spLocks noGrp="1"/>
          </p:cNvSpPr>
          <p:nvPr>
            <p:ph type="sldNum" idx="12"/>
          </p:nvPr>
        </p:nvSpPr>
        <p:spPr>
          <a:xfrm>
            <a:off x="8352692" y="6567854"/>
            <a:ext cx="518746" cy="259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3"/>
          <p:cNvSpPr txBox="1">
            <a:spLocks noGrp="1"/>
          </p:cNvSpPr>
          <p:nvPr>
            <p:ph type="title"/>
          </p:nvPr>
        </p:nvSpPr>
        <p:spPr>
          <a:xfrm>
            <a:off x="629841" y="866777"/>
            <a:ext cx="7886700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3"/>
          <p:cNvSpPr txBox="1"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3"/>
          <p:cNvSpPr txBox="1">
            <a:spLocks noGrp="1"/>
          </p:cNvSpPr>
          <p:nvPr>
            <p:ph type="body" idx="2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13"/>
          <p:cNvSpPr txBox="1">
            <a:spLocks noGrp="1"/>
          </p:cNvSpPr>
          <p:nvPr>
            <p:ph type="body" idx="3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3"/>
          <p:cNvSpPr txBox="1">
            <a:spLocks noGrp="1"/>
          </p:cNvSpPr>
          <p:nvPr>
            <p:ph type="body" idx="4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13"/>
          <p:cNvSpPr txBox="1">
            <a:spLocks noGrp="1"/>
          </p:cNvSpPr>
          <p:nvPr>
            <p:ph type="dt" idx="10"/>
          </p:nvPr>
        </p:nvSpPr>
        <p:spPr>
          <a:xfrm>
            <a:off x="7051429" y="6567854"/>
            <a:ext cx="1301263" cy="290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3"/>
          <p:cNvSpPr txBox="1">
            <a:spLocks noGrp="1"/>
          </p:cNvSpPr>
          <p:nvPr>
            <p:ph type="ftr" idx="11"/>
          </p:nvPr>
        </p:nvSpPr>
        <p:spPr>
          <a:xfrm>
            <a:off x="307731" y="6567855"/>
            <a:ext cx="6743697" cy="2901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3"/>
          <p:cNvSpPr txBox="1">
            <a:spLocks noGrp="1"/>
          </p:cNvSpPr>
          <p:nvPr>
            <p:ph type="sldNum" idx="12"/>
          </p:nvPr>
        </p:nvSpPr>
        <p:spPr>
          <a:xfrm>
            <a:off x="8352692" y="6567854"/>
            <a:ext cx="518746" cy="259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4"/>
          <p:cNvSpPr txBox="1">
            <a:spLocks noGrp="1"/>
          </p:cNvSpPr>
          <p:nvPr>
            <p:ph type="title"/>
          </p:nvPr>
        </p:nvSpPr>
        <p:spPr>
          <a:xfrm>
            <a:off x="307732" y="1"/>
            <a:ext cx="7605346" cy="5802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4"/>
          <p:cNvSpPr txBox="1">
            <a:spLocks noGrp="1"/>
          </p:cNvSpPr>
          <p:nvPr>
            <p:ph type="dt" idx="10"/>
          </p:nvPr>
        </p:nvSpPr>
        <p:spPr>
          <a:xfrm>
            <a:off x="7051429" y="6567854"/>
            <a:ext cx="1301263" cy="290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4"/>
          <p:cNvSpPr txBox="1">
            <a:spLocks noGrp="1"/>
          </p:cNvSpPr>
          <p:nvPr>
            <p:ph type="ftr" idx="11"/>
          </p:nvPr>
        </p:nvSpPr>
        <p:spPr>
          <a:xfrm>
            <a:off x="307731" y="6567855"/>
            <a:ext cx="6743697" cy="2901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4"/>
          <p:cNvSpPr txBox="1">
            <a:spLocks noGrp="1"/>
          </p:cNvSpPr>
          <p:nvPr>
            <p:ph type="sldNum" idx="12"/>
          </p:nvPr>
        </p:nvSpPr>
        <p:spPr>
          <a:xfrm>
            <a:off x="8352692" y="6567854"/>
            <a:ext cx="518746" cy="259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>
            <a:spLocks noGrp="1"/>
          </p:cNvSpPr>
          <p:nvPr>
            <p:ph type="dt" idx="10"/>
          </p:nvPr>
        </p:nvSpPr>
        <p:spPr>
          <a:xfrm>
            <a:off x="7051429" y="6567854"/>
            <a:ext cx="1301263" cy="290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5"/>
          <p:cNvSpPr txBox="1">
            <a:spLocks noGrp="1"/>
          </p:cNvSpPr>
          <p:nvPr>
            <p:ph type="ftr" idx="11"/>
          </p:nvPr>
        </p:nvSpPr>
        <p:spPr>
          <a:xfrm>
            <a:off x="307731" y="6567855"/>
            <a:ext cx="6743697" cy="2901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5"/>
          <p:cNvSpPr txBox="1">
            <a:spLocks noGrp="1"/>
          </p:cNvSpPr>
          <p:nvPr>
            <p:ph type="sldNum" idx="12"/>
          </p:nvPr>
        </p:nvSpPr>
        <p:spPr>
          <a:xfrm>
            <a:off x="8352692" y="6567854"/>
            <a:ext cx="518746" cy="259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6"/>
          <p:cNvSpPr txBox="1">
            <a:spLocks noGrp="1"/>
          </p:cNvSpPr>
          <p:nvPr>
            <p:ph type="title"/>
          </p:nvPr>
        </p:nvSpPr>
        <p:spPr>
          <a:xfrm>
            <a:off x="629841" y="987426"/>
            <a:ext cx="2949178" cy="10699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6"/>
          <p:cNvSpPr txBox="1">
            <a:spLocks noGrp="1"/>
          </p:cNvSpPr>
          <p:nvPr>
            <p:ph type="body"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16"/>
          <p:cNvSpPr txBox="1">
            <a:spLocks noGrp="1"/>
          </p:cNvSpPr>
          <p:nvPr>
            <p:ph type="body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16"/>
          <p:cNvSpPr txBox="1">
            <a:spLocks noGrp="1"/>
          </p:cNvSpPr>
          <p:nvPr>
            <p:ph type="dt" idx="10"/>
          </p:nvPr>
        </p:nvSpPr>
        <p:spPr>
          <a:xfrm>
            <a:off x="7051429" y="6567854"/>
            <a:ext cx="1301263" cy="290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6"/>
          <p:cNvSpPr txBox="1">
            <a:spLocks noGrp="1"/>
          </p:cNvSpPr>
          <p:nvPr>
            <p:ph type="ftr" idx="11"/>
          </p:nvPr>
        </p:nvSpPr>
        <p:spPr>
          <a:xfrm>
            <a:off x="307731" y="6567855"/>
            <a:ext cx="6743697" cy="2901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6"/>
          <p:cNvSpPr txBox="1">
            <a:spLocks noGrp="1"/>
          </p:cNvSpPr>
          <p:nvPr>
            <p:ph type="sldNum" idx="12"/>
          </p:nvPr>
        </p:nvSpPr>
        <p:spPr>
          <a:xfrm>
            <a:off x="8352692" y="6567854"/>
            <a:ext cx="518746" cy="259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>
            <a:spLocks noGrp="1"/>
          </p:cNvSpPr>
          <p:nvPr>
            <p:ph type="title"/>
          </p:nvPr>
        </p:nvSpPr>
        <p:spPr>
          <a:xfrm>
            <a:off x="307732" y="16976"/>
            <a:ext cx="7526213" cy="572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7"/>
          <p:cNvSpPr>
            <a:spLocks noGrp="1"/>
          </p:cNvSpPr>
          <p:nvPr>
            <p:ph type="pic" idx="2"/>
          </p:nvPr>
        </p:nvSpPr>
        <p:spPr>
          <a:xfrm>
            <a:off x="3887390" y="987426"/>
            <a:ext cx="4948877" cy="5307866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7"/>
          <p:cNvSpPr txBox="1">
            <a:spLocks noGrp="1"/>
          </p:cNvSpPr>
          <p:nvPr>
            <p:ph type="body" idx="1"/>
          </p:nvPr>
        </p:nvSpPr>
        <p:spPr>
          <a:xfrm>
            <a:off x="307732" y="987425"/>
            <a:ext cx="3271287" cy="5307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7"/>
          <p:cNvSpPr txBox="1">
            <a:spLocks noGrp="1"/>
          </p:cNvSpPr>
          <p:nvPr>
            <p:ph type="dt" idx="10"/>
          </p:nvPr>
        </p:nvSpPr>
        <p:spPr>
          <a:xfrm>
            <a:off x="7051429" y="6567854"/>
            <a:ext cx="1301263" cy="290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7"/>
          <p:cNvSpPr txBox="1">
            <a:spLocks noGrp="1"/>
          </p:cNvSpPr>
          <p:nvPr>
            <p:ph type="ftr" idx="11"/>
          </p:nvPr>
        </p:nvSpPr>
        <p:spPr>
          <a:xfrm>
            <a:off x="307731" y="6567855"/>
            <a:ext cx="6743697" cy="2901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7"/>
          <p:cNvSpPr txBox="1">
            <a:spLocks noGrp="1"/>
          </p:cNvSpPr>
          <p:nvPr>
            <p:ph type="sldNum" idx="12"/>
          </p:nvPr>
        </p:nvSpPr>
        <p:spPr>
          <a:xfrm>
            <a:off x="8352692" y="6567854"/>
            <a:ext cx="518746" cy="259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8"/>
          <p:cNvSpPr txBox="1">
            <a:spLocks noGrp="1"/>
          </p:cNvSpPr>
          <p:nvPr>
            <p:ph type="title"/>
          </p:nvPr>
        </p:nvSpPr>
        <p:spPr>
          <a:xfrm>
            <a:off x="307732" y="1"/>
            <a:ext cx="7605346" cy="5802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8"/>
          <p:cNvSpPr txBox="1">
            <a:spLocks noGrp="1"/>
          </p:cNvSpPr>
          <p:nvPr>
            <p:ph type="body" idx="1"/>
          </p:nvPr>
        </p:nvSpPr>
        <p:spPr>
          <a:xfrm rot="5400000">
            <a:off x="1833197" y="-646235"/>
            <a:ext cx="5512777" cy="85637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8"/>
          <p:cNvSpPr txBox="1">
            <a:spLocks noGrp="1"/>
          </p:cNvSpPr>
          <p:nvPr>
            <p:ph type="dt" idx="10"/>
          </p:nvPr>
        </p:nvSpPr>
        <p:spPr>
          <a:xfrm>
            <a:off x="7051429" y="6567854"/>
            <a:ext cx="1301263" cy="290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8"/>
          <p:cNvSpPr txBox="1">
            <a:spLocks noGrp="1"/>
          </p:cNvSpPr>
          <p:nvPr>
            <p:ph type="ftr" idx="11"/>
          </p:nvPr>
        </p:nvSpPr>
        <p:spPr>
          <a:xfrm>
            <a:off x="307731" y="6567855"/>
            <a:ext cx="6743697" cy="2901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8"/>
          <p:cNvSpPr txBox="1">
            <a:spLocks noGrp="1"/>
          </p:cNvSpPr>
          <p:nvPr>
            <p:ph type="sldNum" idx="12"/>
          </p:nvPr>
        </p:nvSpPr>
        <p:spPr>
          <a:xfrm>
            <a:off x="8352692" y="6567854"/>
            <a:ext cx="518746" cy="259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9"/>
          <p:cNvSpPr txBox="1">
            <a:spLocks noGrp="1"/>
          </p:cNvSpPr>
          <p:nvPr>
            <p:ph type="title"/>
          </p:nvPr>
        </p:nvSpPr>
        <p:spPr>
          <a:xfrm rot="5400000">
            <a:off x="4893835" y="2555448"/>
            <a:ext cx="5271356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9"/>
          <p:cNvSpPr txBox="1">
            <a:spLocks noGrp="1"/>
          </p:cNvSpPr>
          <p:nvPr>
            <p:ph type="body" idx="1"/>
          </p:nvPr>
        </p:nvSpPr>
        <p:spPr>
          <a:xfrm rot="5400000">
            <a:off x="572418" y="640922"/>
            <a:ext cx="5271355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9"/>
          <p:cNvSpPr txBox="1">
            <a:spLocks noGrp="1"/>
          </p:cNvSpPr>
          <p:nvPr>
            <p:ph type="dt" idx="10"/>
          </p:nvPr>
        </p:nvSpPr>
        <p:spPr>
          <a:xfrm>
            <a:off x="7051429" y="6567854"/>
            <a:ext cx="1301263" cy="290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9"/>
          <p:cNvSpPr txBox="1">
            <a:spLocks noGrp="1"/>
          </p:cNvSpPr>
          <p:nvPr>
            <p:ph type="ftr" idx="11"/>
          </p:nvPr>
        </p:nvSpPr>
        <p:spPr>
          <a:xfrm>
            <a:off x="307731" y="6567855"/>
            <a:ext cx="6743697" cy="2901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9"/>
          <p:cNvSpPr txBox="1">
            <a:spLocks noGrp="1"/>
          </p:cNvSpPr>
          <p:nvPr>
            <p:ph type="sldNum" idx="12"/>
          </p:nvPr>
        </p:nvSpPr>
        <p:spPr>
          <a:xfrm>
            <a:off x="8352692" y="6567854"/>
            <a:ext cx="518746" cy="259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4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7"/>
          <p:cNvSpPr txBox="1">
            <a:spLocks noGrp="1"/>
          </p:cNvSpPr>
          <p:nvPr>
            <p:ph type="title"/>
          </p:nvPr>
        </p:nvSpPr>
        <p:spPr>
          <a:xfrm>
            <a:off x="307732" y="1"/>
            <a:ext cx="7605346" cy="5802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3200"/>
              <a:buFont typeface="Calibri"/>
              <a:buNone/>
              <a:defRPr sz="3200" b="1" i="0" u="none" strike="noStrike" cap="non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7"/>
          <p:cNvSpPr txBox="1">
            <a:spLocks noGrp="1"/>
          </p:cNvSpPr>
          <p:nvPr>
            <p:ph type="body" idx="1"/>
          </p:nvPr>
        </p:nvSpPr>
        <p:spPr>
          <a:xfrm>
            <a:off x="307732" y="879230"/>
            <a:ext cx="8563706" cy="5512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just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just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just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just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just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7"/>
          <p:cNvSpPr txBox="1">
            <a:spLocks noGrp="1"/>
          </p:cNvSpPr>
          <p:nvPr>
            <p:ph type="dt" idx="10"/>
          </p:nvPr>
        </p:nvSpPr>
        <p:spPr>
          <a:xfrm>
            <a:off x="7051429" y="6567854"/>
            <a:ext cx="1301263" cy="290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7"/>
          <p:cNvSpPr txBox="1">
            <a:spLocks noGrp="1"/>
          </p:cNvSpPr>
          <p:nvPr>
            <p:ph type="ftr" idx="11"/>
          </p:nvPr>
        </p:nvSpPr>
        <p:spPr>
          <a:xfrm>
            <a:off x="307731" y="6567855"/>
            <a:ext cx="6743697" cy="2901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7"/>
          <p:cNvSpPr txBox="1">
            <a:spLocks noGrp="1"/>
          </p:cNvSpPr>
          <p:nvPr>
            <p:ph type="sldNum" idx="12"/>
          </p:nvPr>
        </p:nvSpPr>
        <p:spPr>
          <a:xfrm>
            <a:off x="8352692" y="6567854"/>
            <a:ext cx="518746" cy="259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>
            <a:spLocks noGrp="1"/>
          </p:cNvSpPr>
          <p:nvPr>
            <p:ph type="ctrTitle"/>
          </p:nvPr>
        </p:nvSpPr>
        <p:spPr>
          <a:xfrm>
            <a:off x="-868680" y="5357532"/>
            <a:ext cx="6985848" cy="2598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vi-VN" sz="2000" dirty="0"/>
              <a:t>	KIỂM THỬ TỰ ĐỘNG VÀ XÂY DỰNG FRAMEWORK DỰA 	TRÊN SELENIUM CHO WEBSITE DỤNG CỤ BAR CAFE</a:t>
            </a:r>
            <a:br>
              <a:rPr lang="en-US" dirty="0"/>
            </a:br>
            <a:br>
              <a:rPr lang="en-US" dirty="0"/>
            </a:br>
            <a:endParaRPr sz="3000" dirty="0">
              <a:solidFill>
                <a:srgbClr val="FFFF00"/>
              </a:solidFill>
            </a:endParaRPr>
          </a:p>
        </p:txBody>
      </p:sp>
      <p:sp>
        <p:nvSpPr>
          <p:cNvPr id="89" name="Google Shape;89;p1"/>
          <p:cNvSpPr txBox="1">
            <a:spLocks noGrp="1"/>
          </p:cNvSpPr>
          <p:nvPr>
            <p:ph type="subTitle" idx="1"/>
          </p:nvPr>
        </p:nvSpPr>
        <p:spPr>
          <a:xfrm>
            <a:off x="735038" y="4626864"/>
            <a:ext cx="4848765" cy="1073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2000"/>
              <a:buNone/>
            </a:pPr>
            <a:r>
              <a:rPr lang="vi-VN" sz="2000" dirty="0"/>
              <a:t>GVHD</a:t>
            </a:r>
            <a:r>
              <a:rPr lang="en-US" sz="2000" dirty="0"/>
              <a:t>: </a:t>
            </a:r>
            <a:r>
              <a:rPr lang="vi-VN" sz="2000" dirty="0"/>
              <a:t>ThS. Đỗ Thị Thu Trang</a:t>
            </a:r>
            <a:endParaRPr sz="2000" dirty="0"/>
          </a:p>
          <a:p>
            <a:pPr marL="0" lvl="0" indent="0" algn="ctr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F2F2F2"/>
              </a:buClr>
              <a:buSzPts val="2000"/>
              <a:buNone/>
            </a:pPr>
            <a:r>
              <a:rPr lang="en-US" sz="2000" dirty="0"/>
              <a:t>SV </a:t>
            </a:r>
            <a:r>
              <a:rPr lang="en-US" sz="2000" dirty="0" err="1"/>
              <a:t>thực</a:t>
            </a:r>
            <a:r>
              <a:rPr lang="en-US" sz="2000" dirty="0"/>
              <a:t> </a:t>
            </a:r>
            <a:r>
              <a:rPr lang="en-US" sz="2000" dirty="0" err="1"/>
              <a:t>hiện</a:t>
            </a:r>
            <a:r>
              <a:rPr lang="en-US" sz="2000" dirty="0"/>
              <a:t>: </a:t>
            </a:r>
            <a:r>
              <a:rPr lang="vi-VN" sz="2000" dirty="0"/>
              <a:t>Hoàng Minh Nguyệt</a:t>
            </a:r>
            <a:endParaRPr dirty="0"/>
          </a:p>
        </p:txBody>
      </p:sp>
      <p:sp>
        <p:nvSpPr>
          <p:cNvPr id="90" name="Google Shape;90;p1"/>
          <p:cNvSpPr txBox="1">
            <a:spLocks noGrp="1"/>
          </p:cNvSpPr>
          <p:nvPr>
            <p:ph type="body" idx="2"/>
          </p:nvPr>
        </p:nvSpPr>
        <p:spPr>
          <a:xfrm>
            <a:off x="369278" y="5794132"/>
            <a:ext cx="4848765" cy="918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2000"/>
              <a:buNone/>
            </a:pPr>
            <a:r>
              <a:rPr lang="en-US" b="1">
                <a:solidFill>
                  <a:srgbClr val="2F5496"/>
                </a:solidFill>
                <a:latin typeface="Arial"/>
                <a:ea typeface="Arial"/>
                <a:cs typeface="Arial"/>
                <a:sym typeface="Arial"/>
              </a:rPr>
              <a:t>KHOA CNTT</a:t>
            </a:r>
            <a:endParaRPr/>
          </a:p>
          <a:p>
            <a:pPr marL="0" lvl="0" indent="0" algn="ctr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2F5496"/>
              </a:buClr>
              <a:buSzPts val="2000"/>
              <a:buNone/>
            </a:pPr>
            <a:r>
              <a:rPr lang="en-US" b="1">
                <a:solidFill>
                  <a:srgbClr val="2F5496"/>
                </a:solidFill>
                <a:latin typeface="Arial"/>
                <a:ea typeface="Arial"/>
                <a:cs typeface="Arial"/>
                <a:sym typeface="Arial"/>
              </a:rPr>
              <a:t>TRƯỜNG ĐẠI HỌC SPKT HƯNG YÊN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"/>
          <p:cNvSpPr txBox="1">
            <a:spLocks noGrp="1"/>
          </p:cNvSpPr>
          <p:nvPr>
            <p:ph type="title"/>
          </p:nvPr>
        </p:nvSpPr>
        <p:spPr>
          <a:xfrm>
            <a:off x="-3420" y="39442"/>
            <a:ext cx="7658100" cy="589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</a:pPr>
            <a:r>
              <a:rPr lang="en-US" sz="3200"/>
              <a:t>Nội dung</a:t>
            </a:r>
            <a:endParaRPr/>
          </a:p>
        </p:txBody>
      </p:sp>
      <p:sp>
        <p:nvSpPr>
          <p:cNvPr id="97" name="Google Shape;97;p2"/>
          <p:cNvSpPr/>
          <p:nvPr/>
        </p:nvSpPr>
        <p:spPr>
          <a:xfrm>
            <a:off x="2853775" y="2155320"/>
            <a:ext cx="5543590" cy="508000"/>
          </a:xfrm>
          <a:prstGeom prst="roundRect">
            <a:avLst>
              <a:gd name="adj" fmla="val 50000"/>
            </a:avLst>
          </a:prstGeom>
          <a:noFill/>
          <a:ln w="2857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1800" b="1" dirty="0">
                <a:solidFill>
                  <a:schemeClr val="dk1"/>
                </a:solidFill>
              </a:rPr>
              <a:t>Thiết kế và xây dựng framework</a:t>
            </a:r>
            <a:endParaRPr dirty="0"/>
          </a:p>
        </p:txBody>
      </p:sp>
      <p:sp>
        <p:nvSpPr>
          <p:cNvPr id="98" name="Google Shape;98;p2"/>
          <p:cNvSpPr/>
          <p:nvPr/>
        </p:nvSpPr>
        <p:spPr>
          <a:xfrm>
            <a:off x="2972380" y="3489462"/>
            <a:ext cx="5424985" cy="508000"/>
          </a:xfrm>
          <a:prstGeom prst="roundRect">
            <a:avLst>
              <a:gd name="adj" fmla="val 50000"/>
            </a:avLst>
          </a:prstGeom>
          <a:noFill/>
          <a:ln w="2857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vi-VN" sz="1800" b="1" dirty="0">
                <a:solidFill>
                  <a:schemeClr val="tx1"/>
                </a:solidFill>
              </a:rPr>
              <a:t>Ứng dụng kiểm thử website Dụng cụ Bar Cafe</a:t>
            </a:r>
            <a:endParaRPr lang="vi-VN" sz="1800" dirty="0">
              <a:solidFill>
                <a:schemeClr val="tx1"/>
              </a:solidFill>
            </a:endParaRPr>
          </a:p>
        </p:txBody>
      </p:sp>
      <p:sp>
        <p:nvSpPr>
          <p:cNvPr id="99" name="Google Shape;99;p2"/>
          <p:cNvSpPr/>
          <p:nvPr/>
        </p:nvSpPr>
        <p:spPr>
          <a:xfrm>
            <a:off x="1810353" y="1071437"/>
            <a:ext cx="5168900" cy="508000"/>
          </a:xfrm>
          <a:prstGeom prst="roundRect">
            <a:avLst>
              <a:gd name="adj" fmla="val 50000"/>
            </a:avLst>
          </a:prstGeom>
          <a:noFill/>
          <a:ln w="2857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1800" b="1" dirty="0">
                <a:solidFill>
                  <a:schemeClr val="dk1"/>
                </a:solidFill>
              </a:rPr>
              <a:t>Giới thiệu đề tài</a:t>
            </a:r>
          </a:p>
        </p:txBody>
      </p:sp>
      <p:grpSp>
        <p:nvGrpSpPr>
          <p:cNvPr id="100" name="Google Shape;100;p2"/>
          <p:cNvGrpSpPr/>
          <p:nvPr/>
        </p:nvGrpSpPr>
        <p:grpSpPr>
          <a:xfrm>
            <a:off x="1451528" y="1173724"/>
            <a:ext cx="381000" cy="381000"/>
            <a:chOff x="2078" y="1680"/>
            <a:chExt cx="1615" cy="1615"/>
          </a:xfrm>
        </p:grpSpPr>
        <p:sp>
          <p:nvSpPr>
            <p:cNvPr id="101" name="Google Shape;101;p2"/>
            <p:cNvSpPr/>
            <p:nvPr/>
          </p:nvSpPr>
          <p:spPr>
            <a:xfrm>
              <a:off x="2078" y="1680"/>
              <a:ext cx="1615" cy="1615"/>
            </a:xfrm>
            <a:prstGeom prst="ellipse">
              <a:avLst/>
            </a:prstGeom>
            <a:gradFill>
              <a:gsLst>
                <a:gs pos="0">
                  <a:srgbClr val="B3B3B3"/>
                </a:gs>
                <a:gs pos="50000">
                  <a:srgbClr val="FFFFFF"/>
                </a:gs>
                <a:gs pos="100000">
                  <a:srgbClr val="B3B3B3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" name="Google Shape;102;p2"/>
            <p:cNvSpPr/>
            <p:nvPr/>
          </p:nvSpPr>
          <p:spPr>
            <a:xfrm>
              <a:off x="2170" y="1771"/>
              <a:ext cx="1430" cy="1430"/>
            </a:xfrm>
            <a:prstGeom prst="ellipse">
              <a:avLst/>
            </a:prstGeom>
            <a:gradFill>
              <a:gsLst>
                <a:gs pos="0">
                  <a:srgbClr val="CFCFCF"/>
                </a:gs>
                <a:gs pos="50000">
                  <a:srgbClr val="FFFFFF"/>
                </a:gs>
                <a:gs pos="100000">
                  <a:srgbClr val="CFCFCF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" name="Google Shape;103;p2"/>
            <p:cNvSpPr/>
            <p:nvPr/>
          </p:nvSpPr>
          <p:spPr>
            <a:xfrm>
              <a:off x="2254" y="1856"/>
              <a:ext cx="1262" cy="1264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50000">
                  <a:schemeClr val="hlink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2254" y="1856"/>
              <a:ext cx="1262" cy="1264"/>
            </a:xfrm>
            <a:prstGeom prst="ellipse">
              <a:avLst/>
            </a:prstGeom>
            <a:gradFill>
              <a:gsLst>
                <a:gs pos="0">
                  <a:srgbClr val="000000"/>
                </a:gs>
                <a:gs pos="100000">
                  <a:srgbClr val="FFCC00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2337" y="1939"/>
              <a:ext cx="1096" cy="1098"/>
            </a:xfrm>
            <a:prstGeom prst="ellipse">
              <a:avLst/>
            </a:prstGeom>
            <a:gradFill>
              <a:gsLst>
                <a:gs pos="0">
                  <a:srgbClr val="034A91"/>
                </a:gs>
                <a:gs pos="50000">
                  <a:schemeClr val="hlink"/>
                </a:gs>
                <a:gs pos="100000">
                  <a:srgbClr val="034A91"/>
                </a:gs>
              </a:gsLst>
              <a:lin ang="189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2337" y="1939"/>
              <a:ext cx="1096" cy="1098"/>
            </a:xfrm>
            <a:prstGeom prst="ellipse">
              <a:avLst/>
            </a:prstGeom>
            <a:gradFill>
              <a:gsLst>
                <a:gs pos="0">
                  <a:srgbClr val="FFCC00"/>
                </a:gs>
                <a:gs pos="100000">
                  <a:srgbClr val="B79200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4" name="Google Shape;114;p2"/>
          <p:cNvGrpSpPr/>
          <p:nvPr/>
        </p:nvGrpSpPr>
        <p:grpSpPr>
          <a:xfrm>
            <a:off x="2385180" y="2217303"/>
            <a:ext cx="381000" cy="381000"/>
            <a:chOff x="2078" y="1680"/>
            <a:chExt cx="1615" cy="1615"/>
          </a:xfrm>
        </p:grpSpPr>
        <p:sp>
          <p:nvSpPr>
            <p:cNvPr id="115" name="Google Shape;115;p2"/>
            <p:cNvSpPr/>
            <p:nvPr/>
          </p:nvSpPr>
          <p:spPr>
            <a:xfrm>
              <a:off x="2078" y="1680"/>
              <a:ext cx="1615" cy="1615"/>
            </a:xfrm>
            <a:prstGeom prst="ellipse">
              <a:avLst/>
            </a:prstGeom>
            <a:gradFill>
              <a:gsLst>
                <a:gs pos="0">
                  <a:srgbClr val="B3B3B3"/>
                </a:gs>
                <a:gs pos="50000">
                  <a:srgbClr val="FFFFFF"/>
                </a:gs>
                <a:gs pos="100000">
                  <a:srgbClr val="B3B3B3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" name="Google Shape;116;p2"/>
            <p:cNvSpPr/>
            <p:nvPr/>
          </p:nvSpPr>
          <p:spPr>
            <a:xfrm>
              <a:off x="2170" y="1771"/>
              <a:ext cx="1430" cy="1430"/>
            </a:xfrm>
            <a:prstGeom prst="ellipse">
              <a:avLst/>
            </a:prstGeom>
            <a:gradFill>
              <a:gsLst>
                <a:gs pos="0">
                  <a:srgbClr val="CFCFCF"/>
                </a:gs>
                <a:gs pos="50000">
                  <a:srgbClr val="FFFFFF"/>
                </a:gs>
                <a:gs pos="100000">
                  <a:srgbClr val="CFCFCF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" name="Google Shape;117;p2"/>
            <p:cNvSpPr/>
            <p:nvPr/>
          </p:nvSpPr>
          <p:spPr>
            <a:xfrm>
              <a:off x="2254" y="1856"/>
              <a:ext cx="1262" cy="1264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50000">
                  <a:schemeClr val="hlink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" name="Google Shape;118;p2"/>
            <p:cNvSpPr/>
            <p:nvPr/>
          </p:nvSpPr>
          <p:spPr>
            <a:xfrm>
              <a:off x="2254" y="1856"/>
              <a:ext cx="1262" cy="1264"/>
            </a:xfrm>
            <a:prstGeom prst="ellipse">
              <a:avLst/>
            </a:prstGeom>
            <a:gradFill>
              <a:gsLst>
                <a:gs pos="0">
                  <a:srgbClr val="21B3E1"/>
                </a:gs>
                <a:gs pos="100000">
                  <a:srgbClr val="177E9E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" name="Google Shape;119;p2"/>
            <p:cNvSpPr/>
            <p:nvPr/>
          </p:nvSpPr>
          <p:spPr>
            <a:xfrm>
              <a:off x="2337" y="1939"/>
              <a:ext cx="1096" cy="1098"/>
            </a:xfrm>
            <a:prstGeom prst="ellipse">
              <a:avLst/>
            </a:prstGeom>
            <a:gradFill>
              <a:gsLst>
                <a:gs pos="0">
                  <a:srgbClr val="034A91"/>
                </a:gs>
                <a:gs pos="50000">
                  <a:schemeClr val="hlink"/>
                </a:gs>
                <a:gs pos="100000">
                  <a:srgbClr val="034A91"/>
                </a:gs>
              </a:gsLst>
              <a:lin ang="189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" name="Google Shape;120;p2"/>
            <p:cNvSpPr/>
            <p:nvPr/>
          </p:nvSpPr>
          <p:spPr>
            <a:xfrm>
              <a:off x="2337" y="1939"/>
              <a:ext cx="1096" cy="1098"/>
            </a:xfrm>
            <a:prstGeom prst="ellipse">
              <a:avLst/>
            </a:prstGeom>
            <a:gradFill>
              <a:gsLst>
                <a:gs pos="0">
                  <a:srgbClr val="21B3E1"/>
                </a:gs>
                <a:gs pos="100000">
                  <a:srgbClr val="1780A2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1" name="Google Shape;121;p2"/>
          <p:cNvGrpSpPr/>
          <p:nvPr/>
        </p:nvGrpSpPr>
        <p:grpSpPr>
          <a:xfrm>
            <a:off x="2546624" y="3553316"/>
            <a:ext cx="355600" cy="381000"/>
            <a:chOff x="2078" y="1680"/>
            <a:chExt cx="1615" cy="1615"/>
          </a:xfrm>
        </p:grpSpPr>
        <p:sp>
          <p:nvSpPr>
            <p:cNvPr id="122" name="Google Shape;122;p2"/>
            <p:cNvSpPr/>
            <p:nvPr/>
          </p:nvSpPr>
          <p:spPr>
            <a:xfrm>
              <a:off x="2078" y="1680"/>
              <a:ext cx="1615" cy="1615"/>
            </a:xfrm>
            <a:prstGeom prst="ellipse">
              <a:avLst/>
            </a:prstGeom>
            <a:gradFill>
              <a:gsLst>
                <a:gs pos="0">
                  <a:srgbClr val="B3B3B3"/>
                </a:gs>
                <a:gs pos="50000">
                  <a:srgbClr val="FFFFFF"/>
                </a:gs>
                <a:gs pos="100000">
                  <a:srgbClr val="B3B3B3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" name="Google Shape;123;p2"/>
            <p:cNvSpPr/>
            <p:nvPr/>
          </p:nvSpPr>
          <p:spPr>
            <a:xfrm>
              <a:off x="2170" y="1771"/>
              <a:ext cx="1430" cy="1430"/>
            </a:xfrm>
            <a:prstGeom prst="ellipse">
              <a:avLst/>
            </a:prstGeom>
            <a:gradFill>
              <a:gsLst>
                <a:gs pos="0">
                  <a:srgbClr val="CFCFCF"/>
                </a:gs>
                <a:gs pos="50000">
                  <a:srgbClr val="FFFFFF"/>
                </a:gs>
                <a:gs pos="100000">
                  <a:srgbClr val="CFCFCF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" name="Google Shape;124;p2"/>
            <p:cNvSpPr/>
            <p:nvPr/>
          </p:nvSpPr>
          <p:spPr>
            <a:xfrm>
              <a:off x="2254" y="1856"/>
              <a:ext cx="1262" cy="1264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50000">
                  <a:schemeClr val="hlink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" name="Google Shape;125;p2"/>
            <p:cNvSpPr/>
            <p:nvPr/>
          </p:nvSpPr>
          <p:spPr>
            <a:xfrm>
              <a:off x="2254" y="1856"/>
              <a:ext cx="1262" cy="1264"/>
            </a:xfrm>
            <a:prstGeom prst="ellipse">
              <a:avLst/>
            </a:prstGeom>
            <a:gradFill>
              <a:gsLst>
                <a:gs pos="0">
                  <a:srgbClr val="000000"/>
                </a:gs>
                <a:gs pos="100000">
                  <a:srgbClr val="E35E23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" name="Google Shape;126;p2"/>
            <p:cNvSpPr/>
            <p:nvPr/>
          </p:nvSpPr>
          <p:spPr>
            <a:xfrm>
              <a:off x="2337" y="1939"/>
              <a:ext cx="1096" cy="1098"/>
            </a:xfrm>
            <a:prstGeom prst="ellipse">
              <a:avLst/>
            </a:prstGeom>
            <a:gradFill>
              <a:gsLst>
                <a:gs pos="0">
                  <a:srgbClr val="034A91"/>
                </a:gs>
                <a:gs pos="50000">
                  <a:schemeClr val="hlink"/>
                </a:gs>
                <a:gs pos="100000">
                  <a:srgbClr val="034A91"/>
                </a:gs>
              </a:gsLst>
              <a:lin ang="189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" name="Google Shape;127;p2"/>
            <p:cNvSpPr/>
            <p:nvPr/>
          </p:nvSpPr>
          <p:spPr>
            <a:xfrm>
              <a:off x="2337" y="1939"/>
              <a:ext cx="1096" cy="1098"/>
            </a:xfrm>
            <a:prstGeom prst="ellipse">
              <a:avLst/>
            </a:prstGeom>
            <a:gradFill>
              <a:gsLst>
                <a:gs pos="0">
                  <a:srgbClr val="E35E23"/>
                </a:gs>
                <a:gs pos="100000">
                  <a:srgbClr val="A34319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8" name="Google Shape;128;p2"/>
          <p:cNvSpPr/>
          <p:nvPr/>
        </p:nvSpPr>
        <p:spPr>
          <a:xfrm>
            <a:off x="2150355" y="5819832"/>
            <a:ext cx="5343421" cy="529445"/>
          </a:xfrm>
          <a:prstGeom prst="roundRect">
            <a:avLst>
              <a:gd name="adj" fmla="val 50000"/>
            </a:avLst>
          </a:prstGeom>
          <a:noFill/>
          <a:ln w="2857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1800" b="1" dirty="0">
                <a:solidFill>
                  <a:schemeClr val="dk1"/>
                </a:solidFill>
              </a:rPr>
              <a:t>Q&amp;A  </a:t>
            </a:r>
            <a:endParaRPr dirty="0"/>
          </a:p>
        </p:txBody>
      </p:sp>
      <p:sp>
        <p:nvSpPr>
          <p:cNvPr id="136" name="Google Shape;136;p2"/>
          <p:cNvSpPr/>
          <p:nvPr/>
        </p:nvSpPr>
        <p:spPr>
          <a:xfrm rot="5400000">
            <a:off x="-2403921" y="1239529"/>
            <a:ext cx="4824413" cy="4770438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323" y="10641"/>
                </a:moveTo>
                <a:cubicBezTo>
                  <a:pt x="410" y="4916"/>
                  <a:pt x="5075" y="321"/>
                  <a:pt x="10800" y="322"/>
                </a:cubicBezTo>
                <a:cubicBezTo>
                  <a:pt x="16524" y="322"/>
                  <a:pt x="21189" y="4916"/>
                  <a:pt x="21276" y="10641"/>
                </a:cubicBezTo>
                <a:lnTo>
                  <a:pt x="21598" y="10636"/>
                </a:lnTo>
                <a:cubicBezTo>
                  <a:pt x="21509" y="4736"/>
                  <a:pt x="16700" y="-1"/>
                  <a:pt x="10799" y="0"/>
                </a:cubicBezTo>
                <a:cubicBezTo>
                  <a:pt x="4899" y="0"/>
                  <a:pt x="90" y="4736"/>
                  <a:pt x="1" y="10636"/>
                </a:cubicBezTo>
                <a:close/>
              </a:path>
            </a:pathLst>
          </a:custGeom>
          <a:gradFill>
            <a:gsLst>
              <a:gs pos="0">
                <a:srgbClr val="F4F4F4"/>
              </a:gs>
              <a:gs pos="50000">
                <a:schemeClr val="lt2"/>
              </a:gs>
              <a:gs pos="100000">
                <a:srgbClr val="F4F4F4"/>
              </a:gs>
            </a:gsLst>
            <a:lin ang="0" scaled="0"/>
          </a:gradFill>
          <a:ln w="9525" cap="flat" cmpd="sng">
            <a:solidFill>
              <a:srgbClr val="B3ABE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2"/>
          <p:cNvSpPr/>
          <p:nvPr/>
        </p:nvSpPr>
        <p:spPr>
          <a:xfrm rot="5400000" flipH="1">
            <a:off x="-1998313" y="1675297"/>
            <a:ext cx="4032250" cy="3929063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0744" y="10800"/>
                </a:moveTo>
                <a:cubicBezTo>
                  <a:pt x="10744" y="10769"/>
                  <a:pt x="10769" y="10744"/>
                  <a:pt x="10800" y="10744"/>
                </a:cubicBezTo>
                <a:cubicBezTo>
                  <a:pt x="10830" y="10743"/>
                  <a:pt x="10855" y="10769"/>
                  <a:pt x="10856" y="10799"/>
                </a:cubicBezTo>
                <a:lnTo>
                  <a:pt x="21600" y="10800"/>
                </a:lnTo>
                <a:cubicBezTo>
                  <a:pt x="21600" y="4835"/>
                  <a:pt x="16764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close/>
              </a:path>
            </a:pathLst>
          </a:custGeom>
          <a:solidFill>
            <a:srgbClr val="C1DBE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2"/>
          <p:cNvSpPr/>
          <p:nvPr/>
        </p:nvSpPr>
        <p:spPr>
          <a:xfrm>
            <a:off x="2881747" y="4773985"/>
            <a:ext cx="5424985" cy="508000"/>
          </a:xfrm>
          <a:prstGeom prst="roundRect">
            <a:avLst>
              <a:gd name="adj" fmla="val 50000"/>
            </a:avLst>
          </a:prstGeom>
          <a:noFill/>
          <a:ln w="2857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1800" b="1" dirty="0">
                <a:solidFill>
                  <a:schemeClr val="dk1"/>
                </a:solidFill>
              </a:rPr>
              <a:t>Kết luận &amp; Hướng phát triển</a:t>
            </a:r>
            <a:endParaRPr dirty="0"/>
          </a:p>
        </p:txBody>
      </p:sp>
      <p:grpSp>
        <p:nvGrpSpPr>
          <p:cNvPr id="140" name="Google Shape;140;p2"/>
          <p:cNvGrpSpPr/>
          <p:nvPr/>
        </p:nvGrpSpPr>
        <p:grpSpPr>
          <a:xfrm>
            <a:off x="2255782" y="4824312"/>
            <a:ext cx="381000" cy="381000"/>
            <a:chOff x="2078" y="1680"/>
            <a:chExt cx="1615" cy="1615"/>
          </a:xfrm>
        </p:grpSpPr>
        <p:sp>
          <p:nvSpPr>
            <p:cNvPr id="141" name="Google Shape;141;p2"/>
            <p:cNvSpPr/>
            <p:nvPr/>
          </p:nvSpPr>
          <p:spPr>
            <a:xfrm>
              <a:off x="2078" y="1680"/>
              <a:ext cx="1615" cy="1615"/>
            </a:xfrm>
            <a:prstGeom prst="ellipse">
              <a:avLst/>
            </a:prstGeom>
            <a:gradFill>
              <a:gsLst>
                <a:gs pos="0">
                  <a:srgbClr val="B3B3B3"/>
                </a:gs>
                <a:gs pos="50000">
                  <a:srgbClr val="FFFFFF"/>
                </a:gs>
                <a:gs pos="100000">
                  <a:srgbClr val="B3B3B3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" name="Google Shape;142;p2"/>
            <p:cNvSpPr/>
            <p:nvPr/>
          </p:nvSpPr>
          <p:spPr>
            <a:xfrm>
              <a:off x="2170" y="1771"/>
              <a:ext cx="1430" cy="1430"/>
            </a:xfrm>
            <a:prstGeom prst="ellipse">
              <a:avLst/>
            </a:prstGeom>
            <a:gradFill>
              <a:gsLst>
                <a:gs pos="0">
                  <a:srgbClr val="CFCFCF"/>
                </a:gs>
                <a:gs pos="50000">
                  <a:srgbClr val="FFFFFF"/>
                </a:gs>
                <a:gs pos="100000">
                  <a:srgbClr val="CFCFCF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" name="Google Shape;143;p2"/>
            <p:cNvSpPr/>
            <p:nvPr/>
          </p:nvSpPr>
          <p:spPr>
            <a:xfrm>
              <a:off x="2254" y="1856"/>
              <a:ext cx="1262" cy="1264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50000">
                  <a:schemeClr val="hlink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" name="Google Shape;144;p2"/>
            <p:cNvSpPr/>
            <p:nvPr/>
          </p:nvSpPr>
          <p:spPr>
            <a:xfrm>
              <a:off x="2254" y="1856"/>
              <a:ext cx="1262" cy="1264"/>
            </a:xfrm>
            <a:prstGeom prst="ellipse">
              <a:avLst/>
            </a:prstGeom>
            <a:gradFill>
              <a:gsLst>
                <a:gs pos="0">
                  <a:srgbClr val="000000"/>
                </a:gs>
                <a:gs pos="100000">
                  <a:srgbClr val="FFCC00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" name="Google Shape;145;p2"/>
            <p:cNvSpPr/>
            <p:nvPr/>
          </p:nvSpPr>
          <p:spPr>
            <a:xfrm>
              <a:off x="2337" y="1939"/>
              <a:ext cx="1096" cy="1098"/>
            </a:xfrm>
            <a:prstGeom prst="ellipse">
              <a:avLst/>
            </a:prstGeom>
            <a:gradFill>
              <a:gsLst>
                <a:gs pos="0">
                  <a:srgbClr val="034A91"/>
                </a:gs>
                <a:gs pos="50000">
                  <a:schemeClr val="hlink"/>
                </a:gs>
                <a:gs pos="100000">
                  <a:srgbClr val="034A91"/>
                </a:gs>
              </a:gsLst>
              <a:lin ang="189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" name="Google Shape;146;p2"/>
            <p:cNvSpPr/>
            <p:nvPr/>
          </p:nvSpPr>
          <p:spPr>
            <a:xfrm>
              <a:off x="2337" y="1939"/>
              <a:ext cx="1096" cy="1098"/>
            </a:xfrm>
            <a:prstGeom prst="ellipse">
              <a:avLst/>
            </a:prstGeom>
            <a:gradFill>
              <a:gsLst>
                <a:gs pos="0">
                  <a:srgbClr val="FFCC00"/>
                </a:gs>
                <a:gs pos="100000">
                  <a:srgbClr val="B79200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7" name="Google Shape;147;p2"/>
          <p:cNvGrpSpPr/>
          <p:nvPr/>
        </p:nvGrpSpPr>
        <p:grpSpPr>
          <a:xfrm>
            <a:off x="1589122" y="5865161"/>
            <a:ext cx="381000" cy="381000"/>
            <a:chOff x="2078" y="1680"/>
            <a:chExt cx="1615" cy="1615"/>
          </a:xfrm>
        </p:grpSpPr>
        <p:sp>
          <p:nvSpPr>
            <p:cNvPr id="148" name="Google Shape;148;p2"/>
            <p:cNvSpPr/>
            <p:nvPr/>
          </p:nvSpPr>
          <p:spPr>
            <a:xfrm>
              <a:off x="2078" y="1680"/>
              <a:ext cx="1615" cy="1615"/>
            </a:xfrm>
            <a:prstGeom prst="ellipse">
              <a:avLst/>
            </a:prstGeom>
            <a:gradFill>
              <a:gsLst>
                <a:gs pos="0">
                  <a:srgbClr val="B3B3B3"/>
                </a:gs>
                <a:gs pos="50000">
                  <a:srgbClr val="FFFFFF"/>
                </a:gs>
                <a:gs pos="100000">
                  <a:srgbClr val="B3B3B3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" name="Google Shape;149;p2"/>
            <p:cNvSpPr/>
            <p:nvPr/>
          </p:nvSpPr>
          <p:spPr>
            <a:xfrm>
              <a:off x="2170" y="1771"/>
              <a:ext cx="1430" cy="1430"/>
            </a:xfrm>
            <a:prstGeom prst="ellipse">
              <a:avLst/>
            </a:prstGeom>
            <a:gradFill>
              <a:gsLst>
                <a:gs pos="0">
                  <a:srgbClr val="CFCFCF"/>
                </a:gs>
                <a:gs pos="50000">
                  <a:srgbClr val="FFFFFF"/>
                </a:gs>
                <a:gs pos="100000">
                  <a:srgbClr val="CFCFCF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" name="Google Shape;150;p2"/>
            <p:cNvSpPr/>
            <p:nvPr/>
          </p:nvSpPr>
          <p:spPr>
            <a:xfrm>
              <a:off x="2254" y="1856"/>
              <a:ext cx="1262" cy="1264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50000">
                  <a:schemeClr val="hlink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" name="Google Shape;151;p2"/>
            <p:cNvSpPr/>
            <p:nvPr/>
          </p:nvSpPr>
          <p:spPr>
            <a:xfrm>
              <a:off x="2254" y="1856"/>
              <a:ext cx="1262" cy="1264"/>
            </a:xfrm>
            <a:prstGeom prst="ellipse">
              <a:avLst/>
            </a:prstGeom>
            <a:gradFill>
              <a:gsLst>
                <a:gs pos="0">
                  <a:srgbClr val="000000"/>
                </a:gs>
                <a:gs pos="100000">
                  <a:srgbClr val="48BE67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" name="Google Shape;152;p2"/>
            <p:cNvSpPr/>
            <p:nvPr/>
          </p:nvSpPr>
          <p:spPr>
            <a:xfrm>
              <a:off x="2337" y="1939"/>
              <a:ext cx="1096" cy="1098"/>
            </a:xfrm>
            <a:prstGeom prst="ellipse">
              <a:avLst/>
            </a:prstGeom>
            <a:gradFill>
              <a:gsLst>
                <a:gs pos="0">
                  <a:srgbClr val="034A91"/>
                </a:gs>
                <a:gs pos="50000">
                  <a:schemeClr val="hlink"/>
                </a:gs>
                <a:gs pos="100000">
                  <a:srgbClr val="034A91"/>
                </a:gs>
              </a:gsLst>
              <a:lin ang="189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" name="Google Shape;153;p2"/>
            <p:cNvSpPr/>
            <p:nvPr/>
          </p:nvSpPr>
          <p:spPr>
            <a:xfrm>
              <a:off x="2337" y="1939"/>
              <a:ext cx="1096" cy="1098"/>
            </a:xfrm>
            <a:prstGeom prst="ellipse">
              <a:avLst/>
            </a:prstGeom>
            <a:gradFill>
              <a:gsLst>
                <a:gs pos="0">
                  <a:srgbClr val="48BE67"/>
                </a:gs>
                <a:gs pos="100000">
                  <a:srgbClr val="33884A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"/>
          <p:cNvSpPr txBox="1">
            <a:spLocks noGrp="1"/>
          </p:cNvSpPr>
          <p:nvPr>
            <p:ph type="title"/>
          </p:nvPr>
        </p:nvSpPr>
        <p:spPr>
          <a:xfrm>
            <a:off x="290146" y="0"/>
            <a:ext cx="7658100" cy="589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</a:pPr>
            <a:r>
              <a:rPr lang="en-US" sz="3200"/>
              <a:t>Nội dung</a:t>
            </a:r>
            <a:endParaRPr/>
          </a:p>
        </p:txBody>
      </p:sp>
      <p:sp>
        <p:nvSpPr>
          <p:cNvPr id="159" name="Google Shape;159;p3"/>
          <p:cNvSpPr/>
          <p:nvPr/>
        </p:nvSpPr>
        <p:spPr>
          <a:xfrm>
            <a:off x="2707871" y="1910542"/>
            <a:ext cx="5612567" cy="508000"/>
          </a:xfrm>
          <a:prstGeom prst="roundRect">
            <a:avLst>
              <a:gd name="adj" fmla="val 50000"/>
            </a:avLst>
          </a:prstGeom>
          <a:noFill/>
          <a:ln w="2857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1800" b="1" dirty="0">
                <a:solidFill>
                  <a:srgbClr val="D0CECE"/>
                </a:solidFill>
                <a:latin typeface="Arial"/>
                <a:ea typeface="Arial"/>
                <a:cs typeface="Arial"/>
                <a:sym typeface="Arial"/>
              </a:rPr>
              <a:t>Thiết kế và xây dựng framework</a:t>
            </a:r>
            <a:endParaRPr dirty="0"/>
          </a:p>
        </p:txBody>
      </p:sp>
      <p:sp>
        <p:nvSpPr>
          <p:cNvPr id="160" name="Google Shape;160;p3"/>
          <p:cNvSpPr/>
          <p:nvPr/>
        </p:nvSpPr>
        <p:spPr>
          <a:xfrm>
            <a:off x="3092010" y="3231999"/>
            <a:ext cx="5612567" cy="508000"/>
          </a:xfrm>
          <a:prstGeom prst="roundRect">
            <a:avLst>
              <a:gd name="adj" fmla="val 50000"/>
            </a:avLst>
          </a:prstGeom>
          <a:noFill/>
          <a:ln w="2857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vi-VN" sz="1800" b="1" dirty="0">
                <a:solidFill>
                  <a:srgbClr val="D0CECE"/>
                </a:solidFill>
              </a:rPr>
              <a:t>Ứng dụng kiểm thử website Dụng cụ Bar Cafe</a:t>
            </a:r>
          </a:p>
        </p:txBody>
      </p:sp>
      <p:sp>
        <p:nvSpPr>
          <p:cNvPr id="162" name="Google Shape;162;p3"/>
          <p:cNvSpPr/>
          <p:nvPr/>
        </p:nvSpPr>
        <p:spPr>
          <a:xfrm>
            <a:off x="1472079" y="866179"/>
            <a:ext cx="5168900" cy="508000"/>
          </a:xfrm>
          <a:prstGeom prst="roundRect">
            <a:avLst>
              <a:gd name="adj" fmla="val 50000"/>
            </a:avLst>
          </a:prstGeom>
          <a:noFill/>
          <a:ln w="2857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1800" b="1" dirty="0">
                <a:solidFill>
                  <a:schemeClr val="dk1"/>
                </a:solidFill>
              </a:rPr>
              <a:t>Giới thiệu đề tài </a:t>
            </a:r>
            <a:endParaRPr dirty="0"/>
          </a:p>
        </p:txBody>
      </p:sp>
      <p:grpSp>
        <p:nvGrpSpPr>
          <p:cNvPr id="163" name="Google Shape;163;p3"/>
          <p:cNvGrpSpPr/>
          <p:nvPr/>
        </p:nvGrpSpPr>
        <p:grpSpPr>
          <a:xfrm>
            <a:off x="1154579" y="955079"/>
            <a:ext cx="381000" cy="381000"/>
            <a:chOff x="2078" y="1680"/>
            <a:chExt cx="1615" cy="1615"/>
          </a:xfrm>
        </p:grpSpPr>
        <p:sp>
          <p:nvSpPr>
            <p:cNvPr id="164" name="Google Shape;164;p3"/>
            <p:cNvSpPr/>
            <p:nvPr/>
          </p:nvSpPr>
          <p:spPr>
            <a:xfrm>
              <a:off x="2078" y="1680"/>
              <a:ext cx="1615" cy="1615"/>
            </a:xfrm>
            <a:prstGeom prst="ellipse">
              <a:avLst/>
            </a:prstGeom>
            <a:gradFill>
              <a:gsLst>
                <a:gs pos="0">
                  <a:srgbClr val="B3B3B3"/>
                </a:gs>
                <a:gs pos="50000">
                  <a:srgbClr val="FFFFFF"/>
                </a:gs>
                <a:gs pos="100000">
                  <a:srgbClr val="B3B3B3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" name="Google Shape;165;p3"/>
            <p:cNvSpPr/>
            <p:nvPr/>
          </p:nvSpPr>
          <p:spPr>
            <a:xfrm>
              <a:off x="2170" y="1771"/>
              <a:ext cx="1430" cy="1430"/>
            </a:xfrm>
            <a:prstGeom prst="ellipse">
              <a:avLst/>
            </a:prstGeom>
            <a:gradFill>
              <a:gsLst>
                <a:gs pos="0">
                  <a:srgbClr val="CFCFCF"/>
                </a:gs>
                <a:gs pos="50000">
                  <a:srgbClr val="FFFFFF"/>
                </a:gs>
                <a:gs pos="100000">
                  <a:srgbClr val="CFCFCF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" name="Google Shape;166;p3"/>
            <p:cNvSpPr/>
            <p:nvPr/>
          </p:nvSpPr>
          <p:spPr>
            <a:xfrm>
              <a:off x="2254" y="1856"/>
              <a:ext cx="1262" cy="1264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50000">
                  <a:schemeClr val="hlink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" name="Google Shape;167;p3"/>
            <p:cNvSpPr/>
            <p:nvPr/>
          </p:nvSpPr>
          <p:spPr>
            <a:xfrm>
              <a:off x="2254" y="1856"/>
              <a:ext cx="1262" cy="1264"/>
            </a:xfrm>
            <a:prstGeom prst="ellipse">
              <a:avLst/>
            </a:prstGeom>
            <a:gradFill>
              <a:gsLst>
                <a:gs pos="0">
                  <a:srgbClr val="000000"/>
                </a:gs>
                <a:gs pos="100000">
                  <a:srgbClr val="FFCC00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" name="Google Shape;168;p3"/>
            <p:cNvSpPr/>
            <p:nvPr/>
          </p:nvSpPr>
          <p:spPr>
            <a:xfrm>
              <a:off x="2337" y="1939"/>
              <a:ext cx="1096" cy="1098"/>
            </a:xfrm>
            <a:prstGeom prst="ellipse">
              <a:avLst/>
            </a:prstGeom>
            <a:gradFill>
              <a:gsLst>
                <a:gs pos="0">
                  <a:srgbClr val="034A91"/>
                </a:gs>
                <a:gs pos="50000">
                  <a:schemeClr val="hlink"/>
                </a:gs>
                <a:gs pos="100000">
                  <a:srgbClr val="034A91"/>
                </a:gs>
              </a:gsLst>
              <a:lin ang="189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" name="Google Shape;169;p3"/>
            <p:cNvSpPr/>
            <p:nvPr/>
          </p:nvSpPr>
          <p:spPr>
            <a:xfrm>
              <a:off x="2337" y="1939"/>
              <a:ext cx="1096" cy="1098"/>
            </a:xfrm>
            <a:prstGeom prst="ellipse">
              <a:avLst/>
            </a:prstGeom>
            <a:gradFill>
              <a:gsLst>
                <a:gs pos="0">
                  <a:srgbClr val="FFCC00"/>
                </a:gs>
                <a:gs pos="100000">
                  <a:srgbClr val="B79200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7" name="Google Shape;177;p3"/>
          <p:cNvGrpSpPr/>
          <p:nvPr/>
        </p:nvGrpSpPr>
        <p:grpSpPr>
          <a:xfrm>
            <a:off x="2187883" y="1973396"/>
            <a:ext cx="381000" cy="381000"/>
            <a:chOff x="2078" y="1680"/>
            <a:chExt cx="1615" cy="1615"/>
          </a:xfrm>
        </p:grpSpPr>
        <p:sp>
          <p:nvSpPr>
            <p:cNvPr id="178" name="Google Shape;178;p3"/>
            <p:cNvSpPr/>
            <p:nvPr/>
          </p:nvSpPr>
          <p:spPr>
            <a:xfrm>
              <a:off x="2078" y="1680"/>
              <a:ext cx="1615" cy="1615"/>
            </a:xfrm>
            <a:prstGeom prst="ellipse">
              <a:avLst/>
            </a:prstGeom>
            <a:gradFill>
              <a:gsLst>
                <a:gs pos="0">
                  <a:srgbClr val="B3B3B3"/>
                </a:gs>
                <a:gs pos="50000">
                  <a:srgbClr val="FFFFFF"/>
                </a:gs>
                <a:gs pos="100000">
                  <a:srgbClr val="B3B3B3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" name="Google Shape;179;p3"/>
            <p:cNvSpPr/>
            <p:nvPr/>
          </p:nvSpPr>
          <p:spPr>
            <a:xfrm>
              <a:off x="2170" y="1771"/>
              <a:ext cx="1430" cy="1430"/>
            </a:xfrm>
            <a:prstGeom prst="ellipse">
              <a:avLst/>
            </a:prstGeom>
            <a:gradFill>
              <a:gsLst>
                <a:gs pos="0">
                  <a:srgbClr val="CFCFCF"/>
                </a:gs>
                <a:gs pos="50000">
                  <a:srgbClr val="FFFFFF"/>
                </a:gs>
                <a:gs pos="100000">
                  <a:srgbClr val="CFCFCF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" name="Google Shape;180;p3"/>
            <p:cNvSpPr/>
            <p:nvPr/>
          </p:nvSpPr>
          <p:spPr>
            <a:xfrm>
              <a:off x="2254" y="1856"/>
              <a:ext cx="1262" cy="1264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50000">
                  <a:schemeClr val="hlink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" name="Google Shape;181;p3"/>
            <p:cNvSpPr/>
            <p:nvPr/>
          </p:nvSpPr>
          <p:spPr>
            <a:xfrm>
              <a:off x="2254" y="1856"/>
              <a:ext cx="1262" cy="1264"/>
            </a:xfrm>
            <a:prstGeom prst="ellipse">
              <a:avLst/>
            </a:prstGeom>
            <a:gradFill>
              <a:gsLst>
                <a:gs pos="0">
                  <a:srgbClr val="21B3E1"/>
                </a:gs>
                <a:gs pos="100000">
                  <a:srgbClr val="177E9E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" name="Google Shape;182;p3"/>
            <p:cNvSpPr/>
            <p:nvPr/>
          </p:nvSpPr>
          <p:spPr>
            <a:xfrm>
              <a:off x="2337" y="1939"/>
              <a:ext cx="1096" cy="1098"/>
            </a:xfrm>
            <a:prstGeom prst="ellipse">
              <a:avLst/>
            </a:prstGeom>
            <a:gradFill>
              <a:gsLst>
                <a:gs pos="0">
                  <a:srgbClr val="034A91"/>
                </a:gs>
                <a:gs pos="50000">
                  <a:schemeClr val="hlink"/>
                </a:gs>
                <a:gs pos="100000">
                  <a:srgbClr val="034A91"/>
                </a:gs>
              </a:gsLst>
              <a:lin ang="189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" name="Google Shape;183;p3"/>
            <p:cNvSpPr/>
            <p:nvPr/>
          </p:nvSpPr>
          <p:spPr>
            <a:xfrm>
              <a:off x="2337" y="1939"/>
              <a:ext cx="1096" cy="1098"/>
            </a:xfrm>
            <a:prstGeom prst="ellipse">
              <a:avLst/>
            </a:prstGeom>
            <a:gradFill>
              <a:gsLst>
                <a:gs pos="0">
                  <a:srgbClr val="21B3E1"/>
                </a:gs>
                <a:gs pos="100000">
                  <a:srgbClr val="1780A2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4" name="Google Shape;184;p3"/>
          <p:cNvGrpSpPr/>
          <p:nvPr/>
        </p:nvGrpSpPr>
        <p:grpSpPr>
          <a:xfrm>
            <a:off x="2568883" y="3311314"/>
            <a:ext cx="355600" cy="381000"/>
            <a:chOff x="2078" y="1680"/>
            <a:chExt cx="1615" cy="1615"/>
          </a:xfrm>
        </p:grpSpPr>
        <p:sp>
          <p:nvSpPr>
            <p:cNvPr id="185" name="Google Shape;185;p3"/>
            <p:cNvSpPr/>
            <p:nvPr/>
          </p:nvSpPr>
          <p:spPr>
            <a:xfrm>
              <a:off x="2078" y="1680"/>
              <a:ext cx="1615" cy="1615"/>
            </a:xfrm>
            <a:prstGeom prst="ellipse">
              <a:avLst/>
            </a:prstGeom>
            <a:gradFill>
              <a:gsLst>
                <a:gs pos="0">
                  <a:srgbClr val="B3B3B3"/>
                </a:gs>
                <a:gs pos="50000">
                  <a:srgbClr val="FFFFFF"/>
                </a:gs>
                <a:gs pos="100000">
                  <a:srgbClr val="B3B3B3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" name="Google Shape;186;p3"/>
            <p:cNvSpPr/>
            <p:nvPr/>
          </p:nvSpPr>
          <p:spPr>
            <a:xfrm>
              <a:off x="2170" y="1771"/>
              <a:ext cx="1430" cy="1430"/>
            </a:xfrm>
            <a:prstGeom prst="ellipse">
              <a:avLst/>
            </a:prstGeom>
            <a:gradFill>
              <a:gsLst>
                <a:gs pos="0">
                  <a:srgbClr val="CFCFCF"/>
                </a:gs>
                <a:gs pos="50000">
                  <a:srgbClr val="FFFFFF"/>
                </a:gs>
                <a:gs pos="100000">
                  <a:srgbClr val="CFCFCF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" name="Google Shape;187;p3"/>
            <p:cNvSpPr/>
            <p:nvPr/>
          </p:nvSpPr>
          <p:spPr>
            <a:xfrm>
              <a:off x="2254" y="1856"/>
              <a:ext cx="1262" cy="1264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50000">
                  <a:schemeClr val="hlink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" name="Google Shape;188;p3"/>
            <p:cNvSpPr/>
            <p:nvPr/>
          </p:nvSpPr>
          <p:spPr>
            <a:xfrm>
              <a:off x="2254" y="1856"/>
              <a:ext cx="1262" cy="1264"/>
            </a:xfrm>
            <a:prstGeom prst="ellipse">
              <a:avLst/>
            </a:prstGeom>
            <a:gradFill>
              <a:gsLst>
                <a:gs pos="0">
                  <a:srgbClr val="000000"/>
                </a:gs>
                <a:gs pos="100000">
                  <a:srgbClr val="E35E23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9" name="Google Shape;189;p3"/>
            <p:cNvSpPr/>
            <p:nvPr/>
          </p:nvSpPr>
          <p:spPr>
            <a:xfrm>
              <a:off x="2337" y="1939"/>
              <a:ext cx="1096" cy="1098"/>
            </a:xfrm>
            <a:prstGeom prst="ellipse">
              <a:avLst/>
            </a:prstGeom>
            <a:gradFill>
              <a:gsLst>
                <a:gs pos="0">
                  <a:srgbClr val="034A91"/>
                </a:gs>
                <a:gs pos="50000">
                  <a:schemeClr val="hlink"/>
                </a:gs>
                <a:gs pos="100000">
                  <a:srgbClr val="034A91"/>
                </a:gs>
              </a:gsLst>
              <a:lin ang="189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0" name="Google Shape;190;p3"/>
            <p:cNvSpPr/>
            <p:nvPr/>
          </p:nvSpPr>
          <p:spPr>
            <a:xfrm>
              <a:off x="2337" y="1939"/>
              <a:ext cx="1096" cy="1098"/>
            </a:xfrm>
            <a:prstGeom prst="ellipse">
              <a:avLst/>
            </a:prstGeom>
            <a:gradFill>
              <a:gsLst>
                <a:gs pos="0">
                  <a:srgbClr val="E35E23"/>
                </a:gs>
                <a:gs pos="100000">
                  <a:srgbClr val="A34319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9" name="Google Shape;199;p3"/>
          <p:cNvSpPr/>
          <p:nvPr/>
        </p:nvSpPr>
        <p:spPr>
          <a:xfrm rot="5400000">
            <a:off x="-2403921" y="1239529"/>
            <a:ext cx="4824413" cy="4770438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323" y="10641"/>
                </a:moveTo>
                <a:cubicBezTo>
                  <a:pt x="410" y="4916"/>
                  <a:pt x="5075" y="321"/>
                  <a:pt x="10800" y="322"/>
                </a:cubicBezTo>
                <a:cubicBezTo>
                  <a:pt x="16524" y="322"/>
                  <a:pt x="21189" y="4916"/>
                  <a:pt x="21276" y="10641"/>
                </a:cubicBezTo>
                <a:lnTo>
                  <a:pt x="21598" y="10636"/>
                </a:lnTo>
                <a:cubicBezTo>
                  <a:pt x="21509" y="4736"/>
                  <a:pt x="16700" y="-1"/>
                  <a:pt x="10799" y="0"/>
                </a:cubicBezTo>
                <a:cubicBezTo>
                  <a:pt x="4899" y="0"/>
                  <a:pt x="90" y="4736"/>
                  <a:pt x="1" y="10636"/>
                </a:cubicBezTo>
                <a:close/>
              </a:path>
            </a:pathLst>
          </a:custGeom>
          <a:gradFill>
            <a:gsLst>
              <a:gs pos="0">
                <a:srgbClr val="F4F4F4"/>
              </a:gs>
              <a:gs pos="50000">
                <a:schemeClr val="lt2"/>
              </a:gs>
              <a:gs pos="100000">
                <a:srgbClr val="F4F4F4"/>
              </a:gs>
            </a:gsLst>
            <a:lin ang="0" scaled="0"/>
          </a:gradFill>
          <a:ln w="9525" cap="flat" cmpd="sng">
            <a:solidFill>
              <a:srgbClr val="B3ABE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3"/>
          <p:cNvSpPr/>
          <p:nvPr/>
        </p:nvSpPr>
        <p:spPr>
          <a:xfrm rot="5400000" flipH="1">
            <a:off x="-1998313" y="1675297"/>
            <a:ext cx="4032250" cy="3929063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0744" y="10800"/>
                </a:moveTo>
                <a:cubicBezTo>
                  <a:pt x="10744" y="10769"/>
                  <a:pt x="10769" y="10744"/>
                  <a:pt x="10800" y="10744"/>
                </a:cubicBezTo>
                <a:cubicBezTo>
                  <a:pt x="10830" y="10743"/>
                  <a:pt x="10855" y="10769"/>
                  <a:pt x="10856" y="10799"/>
                </a:cubicBezTo>
                <a:lnTo>
                  <a:pt x="21600" y="10800"/>
                </a:lnTo>
                <a:cubicBezTo>
                  <a:pt x="21600" y="4835"/>
                  <a:pt x="16764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close/>
              </a:path>
            </a:pathLst>
          </a:custGeom>
          <a:solidFill>
            <a:srgbClr val="C1DBE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3"/>
          <p:cNvSpPr/>
          <p:nvPr/>
        </p:nvSpPr>
        <p:spPr>
          <a:xfrm>
            <a:off x="1893921" y="5758798"/>
            <a:ext cx="5424985" cy="508000"/>
          </a:xfrm>
          <a:prstGeom prst="roundRect">
            <a:avLst>
              <a:gd name="adj" fmla="val 50000"/>
            </a:avLst>
          </a:prstGeom>
          <a:noFill/>
          <a:ln w="2857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1800" b="1" dirty="0">
                <a:solidFill>
                  <a:srgbClr val="D0CECE"/>
                </a:solidFill>
              </a:rPr>
              <a:t>Q&amp;A</a:t>
            </a:r>
            <a:endParaRPr dirty="0"/>
          </a:p>
        </p:txBody>
      </p:sp>
      <p:sp>
        <p:nvSpPr>
          <p:cNvPr id="202" name="Google Shape;202;p3"/>
          <p:cNvSpPr/>
          <p:nvPr/>
        </p:nvSpPr>
        <p:spPr>
          <a:xfrm>
            <a:off x="2625911" y="4649232"/>
            <a:ext cx="5168900" cy="508000"/>
          </a:xfrm>
          <a:prstGeom prst="roundRect">
            <a:avLst>
              <a:gd name="adj" fmla="val 50000"/>
            </a:avLst>
          </a:prstGeom>
          <a:noFill/>
          <a:ln w="2857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1800" b="1" dirty="0">
                <a:solidFill>
                  <a:srgbClr val="D0CECE"/>
                </a:solidFill>
              </a:rPr>
              <a:t>Kết luận &amp; Hướng phát triển </a:t>
            </a:r>
            <a:endParaRPr sz="1800" b="1" dirty="0">
              <a:solidFill>
                <a:srgbClr val="D0CEC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3" name="Google Shape;203;p3"/>
          <p:cNvGrpSpPr/>
          <p:nvPr/>
        </p:nvGrpSpPr>
        <p:grpSpPr>
          <a:xfrm>
            <a:off x="2308411" y="4738132"/>
            <a:ext cx="381000" cy="381000"/>
            <a:chOff x="2078" y="1680"/>
            <a:chExt cx="1615" cy="1615"/>
          </a:xfrm>
        </p:grpSpPr>
        <p:sp>
          <p:nvSpPr>
            <p:cNvPr id="204" name="Google Shape;204;p3"/>
            <p:cNvSpPr/>
            <p:nvPr/>
          </p:nvSpPr>
          <p:spPr>
            <a:xfrm>
              <a:off x="2078" y="1680"/>
              <a:ext cx="1615" cy="1615"/>
            </a:xfrm>
            <a:prstGeom prst="ellipse">
              <a:avLst/>
            </a:prstGeom>
            <a:gradFill>
              <a:gsLst>
                <a:gs pos="0">
                  <a:srgbClr val="B3B3B3"/>
                </a:gs>
                <a:gs pos="50000">
                  <a:srgbClr val="FFFFFF"/>
                </a:gs>
                <a:gs pos="100000">
                  <a:srgbClr val="B3B3B3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" name="Google Shape;205;p3"/>
            <p:cNvSpPr/>
            <p:nvPr/>
          </p:nvSpPr>
          <p:spPr>
            <a:xfrm>
              <a:off x="2170" y="1771"/>
              <a:ext cx="1430" cy="1430"/>
            </a:xfrm>
            <a:prstGeom prst="ellipse">
              <a:avLst/>
            </a:prstGeom>
            <a:gradFill>
              <a:gsLst>
                <a:gs pos="0">
                  <a:srgbClr val="CFCFCF"/>
                </a:gs>
                <a:gs pos="50000">
                  <a:srgbClr val="FFFFFF"/>
                </a:gs>
                <a:gs pos="100000">
                  <a:srgbClr val="CFCFCF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" name="Google Shape;206;p3"/>
            <p:cNvSpPr/>
            <p:nvPr/>
          </p:nvSpPr>
          <p:spPr>
            <a:xfrm>
              <a:off x="2254" y="1856"/>
              <a:ext cx="1262" cy="1264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50000">
                  <a:schemeClr val="hlink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" name="Google Shape;207;p3"/>
            <p:cNvSpPr/>
            <p:nvPr/>
          </p:nvSpPr>
          <p:spPr>
            <a:xfrm>
              <a:off x="2254" y="1856"/>
              <a:ext cx="1262" cy="1264"/>
            </a:xfrm>
            <a:prstGeom prst="ellipse">
              <a:avLst/>
            </a:prstGeom>
            <a:gradFill>
              <a:gsLst>
                <a:gs pos="0">
                  <a:srgbClr val="000000"/>
                </a:gs>
                <a:gs pos="100000">
                  <a:srgbClr val="FFCC00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" name="Google Shape;208;p3"/>
            <p:cNvSpPr/>
            <p:nvPr/>
          </p:nvSpPr>
          <p:spPr>
            <a:xfrm>
              <a:off x="2337" y="1939"/>
              <a:ext cx="1096" cy="1098"/>
            </a:xfrm>
            <a:prstGeom prst="ellipse">
              <a:avLst/>
            </a:prstGeom>
            <a:gradFill>
              <a:gsLst>
                <a:gs pos="0">
                  <a:srgbClr val="034A91"/>
                </a:gs>
                <a:gs pos="50000">
                  <a:schemeClr val="hlink"/>
                </a:gs>
                <a:gs pos="100000">
                  <a:srgbClr val="034A91"/>
                </a:gs>
              </a:gsLst>
              <a:lin ang="189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" name="Google Shape;209;p3"/>
            <p:cNvSpPr/>
            <p:nvPr/>
          </p:nvSpPr>
          <p:spPr>
            <a:xfrm>
              <a:off x="2337" y="1939"/>
              <a:ext cx="1096" cy="1098"/>
            </a:xfrm>
            <a:prstGeom prst="ellipse">
              <a:avLst/>
            </a:prstGeom>
            <a:gradFill>
              <a:gsLst>
                <a:gs pos="0">
                  <a:srgbClr val="FFCC00"/>
                </a:gs>
                <a:gs pos="100000">
                  <a:srgbClr val="B79200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0" name="Google Shape;210;p3"/>
          <p:cNvGrpSpPr/>
          <p:nvPr/>
        </p:nvGrpSpPr>
        <p:grpSpPr>
          <a:xfrm>
            <a:off x="1589122" y="5865161"/>
            <a:ext cx="381000" cy="381000"/>
            <a:chOff x="2078" y="1680"/>
            <a:chExt cx="1615" cy="1615"/>
          </a:xfrm>
        </p:grpSpPr>
        <p:sp>
          <p:nvSpPr>
            <p:cNvPr id="211" name="Google Shape;211;p3"/>
            <p:cNvSpPr/>
            <p:nvPr/>
          </p:nvSpPr>
          <p:spPr>
            <a:xfrm>
              <a:off x="2078" y="1680"/>
              <a:ext cx="1615" cy="1615"/>
            </a:xfrm>
            <a:prstGeom prst="ellipse">
              <a:avLst/>
            </a:prstGeom>
            <a:gradFill>
              <a:gsLst>
                <a:gs pos="0">
                  <a:srgbClr val="B3B3B3"/>
                </a:gs>
                <a:gs pos="50000">
                  <a:srgbClr val="FFFFFF"/>
                </a:gs>
                <a:gs pos="100000">
                  <a:srgbClr val="B3B3B3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" name="Google Shape;212;p3"/>
            <p:cNvSpPr/>
            <p:nvPr/>
          </p:nvSpPr>
          <p:spPr>
            <a:xfrm>
              <a:off x="2170" y="1771"/>
              <a:ext cx="1430" cy="1430"/>
            </a:xfrm>
            <a:prstGeom prst="ellipse">
              <a:avLst/>
            </a:prstGeom>
            <a:gradFill>
              <a:gsLst>
                <a:gs pos="0">
                  <a:srgbClr val="CFCFCF"/>
                </a:gs>
                <a:gs pos="50000">
                  <a:srgbClr val="FFFFFF"/>
                </a:gs>
                <a:gs pos="100000">
                  <a:srgbClr val="CFCFCF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3" name="Google Shape;213;p3"/>
            <p:cNvSpPr/>
            <p:nvPr/>
          </p:nvSpPr>
          <p:spPr>
            <a:xfrm>
              <a:off x="2254" y="1856"/>
              <a:ext cx="1262" cy="1264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50000">
                  <a:schemeClr val="hlink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4" name="Google Shape;214;p3"/>
            <p:cNvSpPr/>
            <p:nvPr/>
          </p:nvSpPr>
          <p:spPr>
            <a:xfrm>
              <a:off x="2254" y="1856"/>
              <a:ext cx="1262" cy="1264"/>
            </a:xfrm>
            <a:prstGeom prst="ellipse">
              <a:avLst/>
            </a:prstGeom>
            <a:gradFill>
              <a:gsLst>
                <a:gs pos="0">
                  <a:srgbClr val="000000"/>
                </a:gs>
                <a:gs pos="100000">
                  <a:srgbClr val="48BE67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5" name="Google Shape;215;p3"/>
            <p:cNvSpPr/>
            <p:nvPr/>
          </p:nvSpPr>
          <p:spPr>
            <a:xfrm>
              <a:off x="2337" y="1939"/>
              <a:ext cx="1096" cy="1098"/>
            </a:xfrm>
            <a:prstGeom prst="ellipse">
              <a:avLst/>
            </a:prstGeom>
            <a:gradFill>
              <a:gsLst>
                <a:gs pos="0">
                  <a:srgbClr val="034A91"/>
                </a:gs>
                <a:gs pos="50000">
                  <a:schemeClr val="hlink"/>
                </a:gs>
                <a:gs pos="100000">
                  <a:srgbClr val="034A91"/>
                </a:gs>
              </a:gsLst>
              <a:lin ang="189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6" name="Google Shape;216;p3"/>
            <p:cNvSpPr/>
            <p:nvPr/>
          </p:nvSpPr>
          <p:spPr>
            <a:xfrm>
              <a:off x="2337" y="1939"/>
              <a:ext cx="1096" cy="1098"/>
            </a:xfrm>
            <a:prstGeom prst="ellipse">
              <a:avLst/>
            </a:prstGeom>
            <a:gradFill>
              <a:gsLst>
                <a:gs pos="0">
                  <a:srgbClr val="48BE67"/>
                </a:gs>
                <a:gs pos="100000">
                  <a:srgbClr val="33884A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4"/>
          <p:cNvSpPr txBox="1">
            <a:spLocks noGrp="1"/>
          </p:cNvSpPr>
          <p:nvPr>
            <p:ph type="title"/>
          </p:nvPr>
        </p:nvSpPr>
        <p:spPr>
          <a:xfrm>
            <a:off x="290146" y="0"/>
            <a:ext cx="7658100" cy="589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</a:pPr>
            <a:r>
              <a:rPr lang="vi-VN" dirty="0"/>
              <a:t>Giới thiệu đề tài</a:t>
            </a:r>
            <a:endParaRPr dirty="0"/>
          </a:p>
        </p:txBody>
      </p:sp>
      <p:sp>
        <p:nvSpPr>
          <p:cNvPr id="222" name="Google Shape;222;p4"/>
          <p:cNvSpPr txBox="1">
            <a:spLocks noGrp="1"/>
          </p:cNvSpPr>
          <p:nvPr>
            <p:ph type="body" idx="1"/>
          </p:nvPr>
        </p:nvSpPr>
        <p:spPr>
          <a:xfrm>
            <a:off x="290146" y="861646"/>
            <a:ext cx="8572500" cy="54600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lang="vi-VN" sz="2000" b="1" dirty="0">
                <a:latin typeface="+mn-lt"/>
              </a:rPr>
              <a:t>Tên đề tài: </a:t>
            </a:r>
            <a:r>
              <a:rPr lang="vi-VN" sz="1800" dirty="0">
                <a:latin typeface="+mn-lt"/>
              </a:rPr>
              <a:t>Kiểm thử tự động và xây dựng framework dựa trên Selenium cho website Dụng cụ Bar Cafe</a:t>
            </a:r>
          </a:p>
          <a:p>
            <a:pPr marL="114300" indent="0">
              <a:buNone/>
            </a:pPr>
            <a:endParaRPr lang="vi-VN" sz="1800" dirty="0">
              <a:latin typeface="+mn-lt"/>
            </a:endParaRPr>
          </a:p>
          <a:p>
            <a:r>
              <a:rPr lang="vi-VN" sz="2000" b="1" dirty="0">
                <a:latin typeface="+mn-lt"/>
              </a:rPr>
              <a:t>Mục tiêu:</a:t>
            </a:r>
          </a:p>
          <a:p>
            <a:pPr marL="114300" lv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vi-VN" sz="2000" dirty="0">
                <a:latin typeface="+mn-lt"/>
              </a:rPr>
              <a:t>       </a:t>
            </a:r>
            <a:r>
              <a:rPr lang="vi-VN" sz="1800" dirty="0">
                <a:latin typeface="+mn-lt"/>
              </a:rPr>
              <a:t> X</a:t>
            </a:r>
            <a:r>
              <a:rPr lang="en-US" sz="1800" dirty="0" err="1">
                <a:latin typeface="+mn-lt"/>
              </a:rPr>
              <a:t>ác</a:t>
            </a:r>
            <a:r>
              <a:rPr lang="en-US" sz="1800" dirty="0">
                <a:latin typeface="+mn-lt"/>
              </a:rPr>
              <a:t> </a:t>
            </a:r>
            <a:r>
              <a:rPr lang="en-US" sz="1800" dirty="0" err="1">
                <a:latin typeface="+mn-lt"/>
              </a:rPr>
              <a:t>định</a:t>
            </a:r>
            <a:r>
              <a:rPr lang="en-US" sz="1800" dirty="0">
                <a:latin typeface="+mn-lt"/>
              </a:rPr>
              <a:t> </a:t>
            </a:r>
            <a:r>
              <a:rPr lang="en-US" sz="1800" dirty="0" err="1">
                <a:latin typeface="+mn-lt"/>
              </a:rPr>
              <a:t>các</a:t>
            </a:r>
            <a:r>
              <a:rPr lang="en-US" sz="1800" dirty="0">
                <a:latin typeface="+mn-lt"/>
              </a:rPr>
              <a:t> </a:t>
            </a:r>
            <a:r>
              <a:rPr lang="en-US" sz="1800" dirty="0" err="1">
                <a:latin typeface="+mn-lt"/>
              </a:rPr>
              <a:t>chức</a:t>
            </a:r>
            <a:r>
              <a:rPr lang="en-US" sz="1800" dirty="0">
                <a:latin typeface="+mn-lt"/>
              </a:rPr>
              <a:t> </a:t>
            </a:r>
            <a:r>
              <a:rPr lang="en-US" sz="1800" dirty="0" err="1">
                <a:latin typeface="+mn-lt"/>
              </a:rPr>
              <a:t>năng</a:t>
            </a:r>
            <a:r>
              <a:rPr lang="vi-VN" sz="1800" dirty="0">
                <a:latin typeface="+mn-lt"/>
              </a:rPr>
              <a:t> kiểm thử tự động</a:t>
            </a:r>
            <a:endParaRPr lang="en-US" sz="1800" dirty="0">
              <a:latin typeface="+mn-lt"/>
            </a:endParaRPr>
          </a:p>
          <a:p>
            <a:pPr marL="114300" lv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vi-VN" sz="1800" dirty="0">
                <a:latin typeface="+mn-lt"/>
              </a:rPr>
              <a:t>         </a:t>
            </a:r>
            <a:r>
              <a:rPr lang="en-US" sz="1800" dirty="0" err="1">
                <a:latin typeface="+mn-lt"/>
              </a:rPr>
              <a:t>Thiết</a:t>
            </a:r>
            <a:r>
              <a:rPr lang="en-US" sz="1800" dirty="0">
                <a:latin typeface="+mn-lt"/>
              </a:rPr>
              <a:t> </a:t>
            </a:r>
            <a:r>
              <a:rPr lang="en-US" sz="1800" dirty="0" err="1">
                <a:latin typeface="+mn-lt"/>
              </a:rPr>
              <a:t>kế</a:t>
            </a:r>
            <a:r>
              <a:rPr lang="en-US" sz="1800" dirty="0">
                <a:latin typeface="+mn-lt"/>
              </a:rPr>
              <a:t> </a:t>
            </a:r>
            <a:r>
              <a:rPr lang="vi-VN" sz="1800" dirty="0">
                <a:latin typeface="+mn-lt"/>
              </a:rPr>
              <a:t>cấu</a:t>
            </a:r>
            <a:r>
              <a:rPr lang="en-US" sz="1800" dirty="0">
                <a:latin typeface="+mn-lt"/>
              </a:rPr>
              <a:t> </a:t>
            </a:r>
            <a:r>
              <a:rPr lang="en-US" sz="1800" dirty="0" err="1">
                <a:latin typeface="+mn-lt"/>
              </a:rPr>
              <a:t>trúc</a:t>
            </a:r>
            <a:r>
              <a:rPr lang="en-US" sz="1800" dirty="0">
                <a:latin typeface="+mn-lt"/>
              </a:rPr>
              <a:t> framework</a:t>
            </a:r>
            <a:endParaRPr lang="vi-VN" sz="1800" dirty="0">
              <a:latin typeface="+mn-lt"/>
            </a:endParaRPr>
          </a:p>
          <a:p>
            <a:pPr marL="114300" lv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vi-VN" sz="1800" dirty="0">
                <a:latin typeface="+mn-lt"/>
              </a:rPr>
              <a:t>         </a:t>
            </a:r>
            <a:r>
              <a:rPr lang="en-US" sz="1800" dirty="0" err="1">
                <a:latin typeface="+mn-lt"/>
              </a:rPr>
              <a:t>Xây</a:t>
            </a:r>
            <a:r>
              <a:rPr lang="en-US" sz="1800" dirty="0">
                <a:latin typeface="+mn-lt"/>
              </a:rPr>
              <a:t> </a:t>
            </a:r>
            <a:r>
              <a:rPr lang="en-US" sz="1800" dirty="0" err="1">
                <a:latin typeface="+mn-lt"/>
              </a:rPr>
              <a:t>dựng</a:t>
            </a:r>
            <a:r>
              <a:rPr lang="en-US" sz="1800" dirty="0">
                <a:latin typeface="+mn-lt"/>
              </a:rPr>
              <a:t> </a:t>
            </a:r>
            <a:r>
              <a:rPr lang="en-US" sz="1800" dirty="0" err="1">
                <a:latin typeface="+mn-lt"/>
              </a:rPr>
              <a:t>bộ</a:t>
            </a:r>
            <a:r>
              <a:rPr lang="en-US" sz="1800" dirty="0">
                <a:latin typeface="+mn-lt"/>
              </a:rPr>
              <a:t> test case</a:t>
            </a:r>
          </a:p>
          <a:p>
            <a:pPr marL="114300" lv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vi-VN" sz="1800" dirty="0">
                <a:latin typeface="+mn-lt"/>
              </a:rPr>
              <a:t>         </a:t>
            </a:r>
            <a:r>
              <a:rPr lang="en-US" sz="1800" dirty="0" err="1">
                <a:latin typeface="+mn-lt"/>
              </a:rPr>
              <a:t>Thực</a:t>
            </a:r>
            <a:r>
              <a:rPr lang="en-US" sz="1800" dirty="0">
                <a:latin typeface="+mn-lt"/>
              </a:rPr>
              <a:t> </a:t>
            </a:r>
            <a:r>
              <a:rPr lang="en-US" sz="1800" dirty="0" err="1">
                <a:latin typeface="+mn-lt"/>
              </a:rPr>
              <a:t>thi</a:t>
            </a:r>
            <a:r>
              <a:rPr lang="en-US" sz="1800" dirty="0">
                <a:latin typeface="+mn-lt"/>
              </a:rPr>
              <a:t> </a:t>
            </a:r>
            <a:r>
              <a:rPr lang="en-US" sz="1800" dirty="0" err="1">
                <a:latin typeface="+mn-lt"/>
              </a:rPr>
              <a:t>và</a:t>
            </a:r>
            <a:r>
              <a:rPr lang="en-US" sz="1800" dirty="0">
                <a:latin typeface="+mn-lt"/>
              </a:rPr>
              <a:t> </a:t>
            </a:r>
            <a:r>
              <a:rPr lang="en-US" sz="1800" dirty="0" err="1">
                <a:latin typeface="+mn-lt"/>
              </a:rPr>
              <a:t>phân</a:t>
            </a:r>
            <a:r>
              <a:rPr lang="en-US" sz="1800" dirty="0">
                <a:latin typeface="+mn-lt"/>
              </a:rPr>
              <a:t> </a:t>
            </a:r>
            <a:r>
              <a:rPr lang="en-US" sz="1800" dirty="0" err="1">
                <a:latin typeface="+mn-lt"/>
              </a:rPr>
              <a:t>tích</a:t>
            </a:r>
            <a:r>
              <a:rPr lang="en-US" sz="1800" dirty="0">
                <a:latin typeface="+mn-lt"/>
              </a:rPr>
              <a:t> </a:t>
            </a:r>
            <a:r>
              <a:rPr lang="en-US" sz="1800" dirty="0" err="1">
                <a:latin typeface="+mn-lt"/>
              </a:rPr>
              <a:t>kết</a:t>
            </a:r>
            <a:r>
              <a:rPr lang="en-US" sz="1800" dirty="0">
                <a:latin typeface="+mn-lt"/>
              </a:rPr>
              <a:t> </a:t>
            </a:r>
            <a:r>
              <a:rPr lang="en-US" sz="1800" dirty="0" err="1">
                <a:latin typeface="+mn-lt"/>
              </a:rPr>
              <a:t>quả</a:t>
            </a:r>
            <a:r>
              <a:rPr lang="en-US" sz="1800" dirty="0">
                <a:latin typeface="+mn-lt"/>
              </a:rPr>
              <a:t>, </a:t>
            </a:r>
            <a:r>
              <a:rPr lang="en-US" sz="1800" dirty="0" err="1">
                <a:latin typeface="+mn-lt"/>
              </a:rPr>
              <a:t>hoạt</a:t>
            </a:r>
            <a:r>
              <a:rPr lang="en-US" sz="1800" dirty="0">
                <a:latin typeface="+mn-lt"/>
              </a:rPr>
              <a:t> </a:t>
            </a:r>
            <a:r>
              <a:rPr lang="en-US" sz="1800" dirty="0" err="1">
                <a:latin typeface="+mn-lt"/>
              </a:rPr>
              <a:t>động</a:t>
            </a:r>
            <a:r>
              <a:rPr lang="en-US" sz="1800" dirty="0">
                <a:latin typeface="+mn-lt"/>
              </a:rPr>
              <a:t> </a:t>
            </a:r>
            <a:r>
              <a:rPr lang="en-US" sz="1800" dirty="0" err="1">
                <a:latin typeface="+mn-lt"/>
              </a:rPr>
              <a:t>chính</a:t>
            </a:r>
            <a:r>
              <a:rPr lang="en-US" sz="1800" dirty="0">
                <a:latin typeface="+mn-lt"/>
              </a:rPr>
              <a:t> </a:t>
            </a:r>
            <a:r>
              <a:rPr lang="en-US" sz="1800" dirty="0" err="1">
                <a:latin typeface="+mn-lt"/>
              </a:rPr>
              <a:t>xác</a:t>
            </a:r>
            <a:r>
              <a:rPr lang="en-US" sz="1800" dirty="0">
                <a:latin typeface="+mn-lt"/>
              </a:rPr>
              <a:t> </a:t>
            </a:r>
            <a:r>
              <a:rPr lang="en-US" sz="1800" dirty="0" err="1">
                <a:latin typeface="+mn-lt"/>
              </a:rPr>
              <a:t>và</a:t>
            </a:r>
            <a:r>
              <a:rPr lang="en-US" sz="1800" dirty="0">
                <a:latin typeface="+mn-lt"/>
              </a:rPr>
              <a:t> </a:t>
            </a:r>
            <a:r>
              <a:rPr lang="en-US" sz="1800" dirty="0" err="1">
                <a:latin typeface="+mn-lt"/>
              </a:rPr>
              <a:t>cung</a:t>
            </a:r>
            <a:r>
              <a:rPr lang="en-US" sz="1800" dirty="0">
                <a:latin typeface="+mn-lt"/>
              </a:rPr>
              <a:t> </a:t>
            </a:r>
            <a:r>
              <a:rPr lang="en-US" sz="1800" dirty="0" err="1">
                <a:latin typeface="+mn-lt"/>
              </a:rPr>
              <a:t>cấp</a:t>
            </a:r>
            <a:r>
              <a:rPr lang="en-US" sz="1800" dirty="0">
                <a:latin typeface="+mn-lt"/>
              </a:rPr>
              <a:t> </a:t>
            </a:r>
            <a:r>
              <a:rPr lang="en-US" sz="1800" dirty="0" err="1">
                <a:latin typeface="+mn-lt"/>
              </a:rPr>
              <a:t>báo</a:t>
            </a:r>
            <a:r>
              <a:rPr lang="en-US" sz="1800" dirty="0">
                <a:latin typeface="+mn-lt"/>
              </a:rPr>
              <a:t> </a:t>
            </a:r>
            <a:r>
              <a:rPr lang="en-US" sz="1800" dirty="0" err="1">
                <a:latin typeface="+mn-lt"/>
              </a:rPr>
              <a:t>cáo</a:t>
            </a:r>
            <a:r>
              <a:rPr lang="en-US" sz="1800" dirty="0">
                <a:latin typeface="+mn-lt"/>
              </a:rPr>
              <a:t> </a:t>
            </a:r>
            <a:endParaRPr lang="vi-VN" sz="1800" dirty="0">
              <a:latin typeface="+mn-lt"/>
            </a:endParaRPr>
          </a:p>
          <a:p>
            <a:pPr marL="114300" lv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vi-VN" sz="1800" dirty="0">
                <a:latin typeface="+mn-lt"/>
              </a:rPr>
              <a:t>         </a:t>
            </a:r>
            <a:r>
              <a:rPr lang="en-US" sz="1800" dirty="0" err="1">
                <a:latin typeface="+mn-lt"/>
              </a:rPr>
              <a:t>Đề</a:t>
            </a:r>
            <a:r>
              <a:rPr lang="en-US" sz="1800" dirty="0">
                <a:latin typeface="+mn-lt"/>
              </a:rPr>
              <a:t> </a:t>
            </a:r>
            <a:r>
              <a:rPr lang="en-US" sz="1800" dirty="0" err="1">
                <a:latin typeface="+mn-lt"/>
              </a:rPr>
              <a:t>xuất</a:t>
            </a:r>
            <a:r>
              <a:rPr lang="en-US" sz="1800" dirty="0">
                <a:latin typeface="+mn-lt"/>
              </a:rPr>
              <a:t> </a:t>
            </a:r>
            <a:r>
              <a:rPr lang="en-US" sz="1800" dirty="0" err="1">
                <a:latin typeface="+mn-lt"/>
              </a:rPr>
              <a:t>hướng</a:t>
            </a:r>
            <a:r>
              <a:rPr lang="en-US" sz="1800" dirty="0">
                <a:latin typeface="+mn-lt"/>
              </a:rPr>
              <a:t> </a:t>
            </a:r>
            <a:r>
              <a:rPr lang="en-US" sz="1800" dirty="0" err="1">
                <a:latin typeface="+mn-lt"/>
              </a:rPr>
              <a:t>cải</a:t>
            </a:r>
            <a:r>
              <a:rPr lang="en-US" sz="1800" dirty="0">
                <a:latin typeface="+mn-lt"/>
              </a:rPr>
              <a:t> </a:t>
            </a:r>
            <a:r>
              <a:rPr lang="vi-VN" sz="1800" dirty="0">
                <a:latin typeface="+mn-lt"/>
              </a:rPr>
              <a:t>tiến, </a:t>
            </a:r>
            <a:r>
              <a:rPr lang="en-US" sz="1800" dirty="0" err="1">
                <a:latin typeface="+mn-lt"/>
              </a:rPr>
              <a:t>ứng</a:t>
            </a:r>
            <a:r>
              <a:rPr lang="en-US" sz="1800" dirty="0">
                <a:latin typeface="+mn-lt"/>
              </a:rPr>
              <a:t> </a:t>
            </a:r>
            <a:r>
              <a:rPr lang="en-US" sz="1800" dirty="0" err="1">
                <a:latin typeface="+mn-lt"/>
              </a:rPr>
              <a:t>dụng</a:t>
            </a:r>
            <a:r>
              <a:rPr lang="en-US" sz="1800" dirty="0">
                <a:latin typeface="+mn-lt"/>
              </a:rPr>
              <a:t> </a:t>
            </a:r>
            <a:r>
              <a:rPr lang="en-US" sz="1800" dirty="0" err="1">
                <a:latin typeface="+mn-lt"/>
              </a:rPr>
              <a:t>kiểm</a:t>
            </a:r>
            <a:r>
              <a:rPr lang="en-US" sz="1800" dirty="0">
                <a:latin typeface="+mn-lt"/>
              </a:rPr>
              <a:t> </a:t>
            </a:r>
            <a:r>
              <a:rPr lang="en-US" sz="1800" dirty="0" err="1">
                <a:latin typeface="+mn-lt"/>
              </a:rPr>
              <a:t>thử</a:t>
            </a:r>
            <a:r>
              <a:rPr lang="en-US" sz="1800" dirty="0">
                <a:latin typeface="+mn-lt"/>
              </a:rPr>
              <a:t> website</a:t>
            </a:r>
            <a:r>
              <a:rPr lang="vi-VN" sz="1800" dirty="0">
                <a:latin typeface="+mn-lt"/>
              </a:rPr>
              <a:t> Dụng cụ Bar Cafe.</a:t>
            </a:r>
            <a:endParaRPr lang="en-US" sz="1800" dirty="0">
              <a:latin typeface="+mn-lt"/>
            </a:endParaRPr>
          </a:p>
          <a:p>
            <a:endParaRPr lang="en-US" sz="2000" dirty="0"/>
          </a:p>
          <a:p>
            <a:pPr marL="228600" indent="-228600">
              <a:buSzPts val="2400"/>
            </a:pPr>
            <a:endParaRPr lang="vi-VN" sz="2000" dirty="0">
              <a:latin typeface="+mn-l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"/>
          <p:cNvSpPr txBox="1">
            <a:spLocks noGrp="1"/>
          </p:cNvSpPr>
          <p:nvPr>
            <p:ph type="title"/>
          </p:nvPr>
        </p:nvSpPr>
        <p:spPr>
          <a:xfrm>
            <a:off x="290146" y="0"/>
            <a:ext cx="7658100" cy="589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</a:pPr>
            <a:r>
              <a:rPr lang="en-US" sz="3200"/>
              <a:t>Nội dung</a:t>
            </a:r>
            <a:endParaRPr/>
          </a:p>
        </p:txBody>
      </p:sp>
      <p:sp>
        <p:nvSpPr>
          <p:cNvPr id="159" name="Google Shape;159;p3"/>
          <p:cNvSpPr/>
          <p:nvPr/>
        </p:nvSpPr>
        <p:spPr>
          <a:xfrm>
            <a:off x="2707871" y="1910542"/>
            <a:ext cx="5612567" cy="508000"/>
          </a:xfrm>
          <a:prstGeom prst="roundRect">
            <a:avLst>
              <a:gd name="adj" fmla="val 50000"/>
            </a:avLst>
          </a:prstGeom>
          <a:noFill/>
          <a:ln w="2857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1800" b="1" dirty="0">
                <a:solidFill>
                  <a:schemeClr val="tx1"/>
                </a:solidFill>
                <a:sym typeface="Arial"/>
              </a:rPr>
              <a:t>Thiết kế và xây dựng framework</a:t>
            </a:r>
            <a:endParaRPr b="1" dirty="0">
              <a:solidFill>
                <a:schemeClr val="tx1"/>
              </a:solidFill>
            </a:endParaRPr>
          </a:p>
        </p:txBody>
      </p:sp>
      <p:sp>
        <p:nvSpPr>
          <p:cNvPr id="160" name="Google Shape;160;p3"/>
          <p:cNvSpPr/>
          <p:nvPr/>
        </p:nvSpPr>
        <p:spPr>
          <a:xfrm>
            <a:off x="3092010" y="3231999"/>
            <a:ext cx="5612567" cy="508000"/>
          </a:xfrm>
          <a:prstGeom prst="roundRect">
            <a:avLst>
              <a:gd name="adj" fmla="val 50000"/>
            </a:avLst>
          </a:prstGeom>
          <a:noFill/>
          <a:ln w="2857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vi-VN" sz="1800" b="1" dirty="0">
                <a:solidFill>
                  <a:srgbClr val="D0CECE"/>
                </a:solidFill>
              </a:rPr>
              <a:t>Ứng dụng kiểm thử website Dụng cụ Bar Cafe</a:t>
            </a:r>
            <a:endParaRPr lang="vi-VN" sz="1800" dirty="0">
              <a:solidFill>
                <a:srgbClr val="D0CECE"/>
              </a:solidFill>
            </a:endParaRPr>
          </a:p>
        </p:txBody>
      </p:sp>
      <p:sp>
        <p:nvSpPr>
          <p:cNvPr id="162" name="Google Shape;162;p3"/>
          <p:cNvSpPr/>
          <p:nvPr/>
        </p:nvSpPr>
        <p:spPr>
          <a:xfrm>
            <a:off x="1472079" y="866179"/>
            <a:ext cx="5168900" cy="508000"/>
          </a:xfrm>
          <a:prstGeom prst="roundRect">
            <a:avLst>
              <a:gd name="adj" fmla="val 50000"/>
            </a:avLst>
          </a:prstGeom>
          <a:noFill/>
          <a:ln w="2857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1800" b="1" dirty="0">
                <a:solidFill>
                  <a:srgbClr val="D0CECE"/>
                </a:solidFill>
              </a:rPr>
              <a:t>Giới thiệu đề tài </a:t>
            </a:r>
            <a:endParaRPr dirty="0">
              <a:solidFill>
                <a:srgbClr val="D0CECE"/>
              </a:solidFill>
            </a:endParaRPr>
          </a:p>
        </p:txBody>
      </p:sp>
      <p:grpSp>
        <p:nvGrpSpPr>
          <p:cNvPr id="163" name="Google Shape;163;p3"/>
          <p:cNvGrpSpPr/>
          <p:nvPr/>
        </p:nvGrpSpPr>
        <p:grpSpPr>
          <a:xfrm>
            <a:off x="1154579" y="955079"/>
            <a:ext cx="381000" cy="381000"/>
            <a:chOff x="2078" y="1680"/>
            <a:chExt cx="1615" cy="1615"/>
          </a:xfrm>
        </p:grpSpPr>
        <p:sp>
          <p:nvSpPr>
            <p:cNvPr id="164" name="Google Shape;164;p3"/>
            <p:cNvSpPr/>
            <p:nvPr/>
          </p:nvSpPr>
          <p:spPr>
            <a:xfrm>
              <a:off x="2078" y="1680"/>
              <a:ext cx="1615" cy="1615"/>
            </a:xfrm>
            <a:prstGeom prst="ellipse">
              <a:avLst/>
            </a:prstGeom>
            <a:gradFill>
              <a:gsLst>
                <a:gs pos="0">
                  <a:srgbClr val="B3B3B3"/>
                </a:gs>
                <a:gs pos="50000">
                  <a:srgbClr val="FFFFFF"/>
                </a:gs>
                <a:gs pos="100000">
                  <a:srgbClr val="B3B3B3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" name="Google Shape;165;p3"/>
            <p:cNvSpPr/>
            <p:nvPr/>
          </p:nvSpPr>
          <p:spPr>
            <a:xfrm>
              <a:off x="2170" y="1771"/>
              <a:ext cx="1430" cy="1430"/>
            </a:xfrm>
            <a:prstGeom prst="ellipse">
              <a:avLst/>
            </a:prstGeom>
            <a:gradFill>
              <a:gsLst>
                <a:gs pos="0">
                  <a:srgbClr val="CFCFCF"/>
                </a:gs>
                <a:gs pos="50000">
                  <a:srgbClr val="FFFFFF"/>
                </a:gs>
                <a:gs pos="100000">
                  <a:srgbClr val="CFCFCF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" name="Google Shape;166;p3"/>
            <p:cNvSpPr/>
            <p:nvPr/>
          </p:nvSpPr>
          <p:spPr>
            <a:xfrm>
              <a:off x="2254" y="1856"/>
              <a:ext cx="1262" cy="1264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50000">
                  <a:schemeClr val="hlink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" name="Google Shape;167;p3"/>
            <p:cNvSpPr/>
            <p:nvPr/>
          </p:nvSpPr>
          <p:spPr>
            <a:xfrm>
              <a:off x="2254" y="1856"/>
              <a:ext cx="1262" cy="1264"/>
            </a:xfrm>
            <a:prstGeom prst="ellipse">
              <a:avLst/>
            </a:prstGeom>
            <a:gradFill>
              <a:gsLst>
                <a:gs pos="0">
                  <a:srgbClr val="000000"/>
                </a:gs>
                <a:gs pos="100000">
                  <a:srgbClr val="FFCC00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" name="Google Shape;168;p3"/>
            <p:cNvSpPr/>
            <p:nvPr/>
          </p:nvSpPr>
          <p:spPr>
            <a:xfrm>
              <a:off x="2337" y="1939"/>
              <a:ext cx="1096" cy="1098"/>
            </a:xfrm>
            <a:prstGeom prst="ellipse">
              <a:avLst/>
            </a:prstGeom>
            <a:gradFill>
              <a:gsLst>
                <a:gs pos="0">
                  <a:srgbClr val="034A91"/>
                </a:gs>
                <a:gs pos="50000">
                  <a:schemeClr val="hlink"/>
                </a:gs>
                <a:gs pos="100000">
                  <a:srgbClr val="034A91"/>
                </a:gs>
              </a:gsLst>
              <a:lin ang="189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" name="Google Shape;169;p3"/>
            <p:cNvSpPr/>
            <p:nvPr/>
          </p:nvSpPr>
          <p:spPr>
            <a:xfrm>
              <a:off x="2337" y="1939"/>
              <a:ext cx="1096" cy="1098"/>
            </a:xfrm>
            <a:prstGeom prst="ellipse">
              <a:avLst/>
            </a:prstGeom>
            <a:gradFill>
              <a:gsLst>
                <a:gs pos="0">
                  <a:srgbClr val="FFCC00"/>
                </a:gs>
                <a:gs pos="100000">
                  <a:srgbClr val="B79200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7" name="Google Shape;177;p3"/>
          <p:cNvGrpSpPr/>
          <p:nvPr/>
        </p:nvGrpSpPr>
        <p:grpSpPr>
          <a:xfrm>
            <a:off x="2187883" y="1973396"/>
            <a:ext cx="381000" cy="381000"/>
            <a:chOff x="2078" y="1680"/>
            <a:chExt cx="1615" cy="1615"/>
          </a:xfrm>
        </p:grpSpPr>
        <p:sp>
          <p:nvSpPr>
            <p:cNvPr id="178" name="Google Shape;178;p3"/>
            <p:cNvSpPr/>
            <p:nvPr/>
          </p:nvSpPr>
          <p:spPr>
            <a:xfrm>
              <a:off x="2078" y="1680"/>
              <a:ext cx="1615" cy="1615"/>
            </a:xfrm>
            <a:prstGeom prst="ellipse">
              <a:avLst/>
            </a:prstGeom>
            <a:gradFill>
              <a:gsLst>
                <a:gs pos="0">
                  <a:srgbClr val="B3B3B3"/>
                </a:gs>
                <a:gs pos="50000">
                  <a:srgbClr val="FFFFFF"/>
                </a:gs>
                <a:gs pos="100000">
                  <a:srgbClr val="B3B3B3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" name="Google Shape;179;p3"/>
            <p:cNvSpPr/>
            <p:nvPr/>
          </p:nvSpPr>
          <p:spPr>
            <a:xfrm>
              <a:off x="2170" y="1771"/>
              <a:ext cx="1430" cy="1430"/>
            </a:xfrm>
            <a:prstGeom prst="ellipse">
              <a:avLst/>
            </a:prstGeom>
            <a:gradFill>
              <a:gsLst>
                <a:gs pos="0">
                  <a:srgbClr val="CFCFCF"/>
                </a:gs>
                <a:gs pos="50000">
                  <a:srgbClr val="FFFFFF"/>
                </a:gs>
                <a:gs pos="100000">
                  <a:srgbClr val="CFCFCF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" name="Google Shape;180;p3"/>
            <p:cNvSpPr/>
            <p:nvPr/>
          </p:nvSpPr>
          <p:spPr>
            <a:xfrm>
              <a:off x="2254" y="1856"/>
              <a:ext cx="1262" cy="1264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50000">
                  <a:schemeClr val="hlink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" name="Google Shape;181;p3"/>
            <p:cNvSpPr/>
            <p:nvPr/>
          </p:nvSpPr>
          <p:spPr>
            <a:xfrm>
              <a:off x="2254" y="1856"/>
              <a:ext cx="1262" cy="1264"/>
            </a:xfrm>
            <a:prstGeom prst="ellipse">
              <a:avLst/>
            </a:prstGeom>
            <a:gradFill>
              <a:gsLst>
                <a:gs pos="0">
                  <a:srgbClr val="21B3E1"/>
                </a:gs>
                <a:gs pos="100000">
                  <a:srgbClr val="177E9E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" name="Google Shape;182;p3"/>
            <p:cNvSpPr/>
            <p:nvPr/>
          </p:nvSpPr>
          <p:spPr>
            <a:xfrm>
              <a:off x="2337" y="1939"/>
              <a:ext cx="1096" cy="1098"/>
            </a:xfrm>
            <a:prstGeom prst="ellipse">
              <a:avLst/>
            </a:prstGeom>
            <a:gradFill>
              <a:gsLst>
                <a:gs pos="0">
                  <a:srgbClr val="034A91"/>
                </a:gs>
                <a:gs pos="50000">
                  <a:schemeClr val="hlink"/>
                </a:gs>
                <a:gs pos="100000">
                  <a:srgbClr val="034A91"/>
                </a:gs>
              </a:gsLst>
              <a:lin ang="189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" name="Google Shape;183;p3"/>
            <p:cNvSpPr/>
            <p:nvPr/>
          </p:nvSpPr>
          <p:spPr>
            <a:xfrm>
              <a:off x="2337" y="1939"/>
              <a:ext cx="1096" cy="1098"/>
            </a:xfrm>
            <a:prstGeom prst="ellipse">
              <a:avLst/>
            </a:prstGeom>
            <a:gradFill>
              <a:gsLst>
                <a:gs pos="0">
                  <a:srgbClr val="21B3E1"/>
                </a:gs>
                <a:gs pos="100000">
                  <a:srgbClr val="1780A2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4" name="Google Shape;184;p3"/>
          <p:cNvGrpSpPr/>
          <p:nvPr/>
        </p:nvGrpSpPr>
        <p:grpSpPr>
          <a:xfrm>
            <a:off x="2568883" y="3311314"/>
            <a:ext cx="355600" cy="381000"/>
            <a:chOff x="2078" y="1680"/>
            <a:chExt cx="1615" cy="1615"/>
          </a:xfrm>
        </p:grpSpPr>
        <p:sp>
          <p:nvSpPr>
            <p:cNvPr id="185" name="Google Shape;185;p3"/>
            <p:cNvSpPr/>
            <p:nvPr/>
          </p:nvSpPr>
          <p:spPr>
            <a:xfrm>
              <a:off x="2078" y="1680"/>
              <a:ext cx="1615" cy="1615"/>
            </a:xfrm>
            <a:prstGeom prst="ellipse">
              <a:avLst/>
            </a:prstGeom>
            <a:gradFill>
              <a:gsLst>
                <a:gs pos="0">
                  <a:srgbClr val="B3B3B3"/>
                </a:gs>
                <a:gs pos="50000">
                  <a:srgbClr val="FFFFFF"/>
                </a:gs>
                <a:gs pos="100000">
                  <a:srgbClr val="B3B3B3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" name="Google Shape;186;p3"/>
            <p:cNvSpPr/>
            <p:nvPr/>
          </p:nvSpPr>
          <p:spPr>
            <a:xfrm>
              <a:off x="2170" y="1771"/>
              <a:ext cx="1430" cy="1430"/>
            </a:xfrm>
            <a:prstGeom prst="ellipse">
              <a:avLst/>
            </a:prstGeom>
            <a:gradFill>
              <a:gsLst>
                <a:gs pos="0">
                  <a:srgbClr val="CFCFCF"/>
                </a:gs>
                <a:gs pos="50000">
                  <a:srgbClr val="FFFFFF"/>
                </a:gs>
                <a:gs pos="100000">
                  <a:srgbClr val="CFCFCF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" name="Google Shape;187;p3"/>
            <p:cNvSpPr/>
            <p:nvPr/>
          </p:nvSpPr>
          <p:spPr>
            <a:xfrm>
              <a:off x="2254" y="1856"/>
              <a:ext cx="1262" cy="1264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50000">
                  <a:schemeClr val="hlink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" name="Google Shape;188;p3"/>
            <p:cNvSpPr/>
            <p:nvPr/>
          </p:nvSpPr>
          <p:spPr>
            <a:xfrm>
              <a:off x="2254" y="1856"/>
              <a:ext cx="1262" cy="1264"/>
            </a:xfrm>
            <a:prstGeom prst="ellipse">
              <a:avLst/>
            </a:prstGeom>
            <a:gradFill>
              <a:gsLst>
                <a:gs pos="0">
                  <a:srgbClr val="000000"/>
                </a:gs>
                <a:gs pos="100000">
                  <a:srgbClr val="E35E23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9" name="Google Shape;189;p3"/>
            <p:cNvSpPr/>
            <p:nvPr/>
          </p:nvSpPr>
          <p:spPr>
            <a:xfrm>
              <a:off x="2337" y="1939"/>
              <a:ext cx="1096" cy="1098"/>
            </a:xfrm>
            <a:prstGeom prst="ellipse">
              <a:avLst/>
            </a:prstGeom>
            <a:gradFill>
              <a:gsLst>
                <a:gs pos="0">
                  <a:srgbClr val="034A91"/>
                </a:gs>
                <a:gs pos="50000">
                  <a:schemeClr val="hlink"/>
                </a:gs>
                <a:gs pos="100000">
                  <a:srgbClr val="034A91"/>
                </a:gs>
              </a:gsLst>
              <a:lin ang="189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0" name="Google Shape;190;p3"/>
            <p:cNvSpPr/>
            <p:nvPr/>
          </p:nvSpPr>
          <p:spPr>
            <a:xfrm>
              <a:off x="2337" y="1939"/>
              <a:ext cx="1096" cy="1098"/>
            </a:xfrm>
            <a:prstGeom prst="ellipse">
              <a:avLst/>
            </a:prstGeom>
            <a:gradFill>
              <a:gsLst>
                <a:gs pos="0">
                  <a:srgbClr val="E35E23"/>
                </a:gs>
                <a:gs pos="100000">
                  <a:srgbClr val="A34319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9" name="Google Shape;199;p3"/>
          <p:cNvSpPr/>
          <p:nvPr/>
        </p:nvSpPr>
        <p:spPr>
          <a:xfrm rot="5400000">
            <a:off x="-2403921" y="1239529"/>
            <a:ext cx="4824413" cy="4770438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323" y="10641"/>
                </a:moveTo>
                <a:cubicBezTo>
                  <a:pt x="410" y="4916"/>
                  <a:pt x="5075" y="321"/>
                  <a:pt x="10800" y="322"/>
                </a:cubicBezTo>
                <a:cubicBezTo>
                  <a:pt x="16524" y="322"/>
                  <a:pt x="21189" y="4916"/>
                  <a:pt x="21276" y="10641"/>
                </a:cubicBezTo>
                <a:lnTo>
                  <a:pt x="21598" y="10636"/>
                </a:lnTo>
                <a:cubicBezTo>
                  <a:pt x="21509" y="4736"/>
                  <a:pt x="16700" y="-1"/>
                  <a:pt x="10799" y="0"/>
                </a:cubicBezTo>
                <a:cubicBezTo>
                  <a:pt x="4899" y="0"/>
                  <a:pt x="90" y="4736"/>
                  <a:pt x="1" y="10636"/>
                </a:cubicBezTo>
                <a:close/>
              </a:path>
            </a:pathLst>
          </a:custGeom>
          <a:gradFill>
            <a:gsLst>
              <a:gs pos="0">
                <a:srgbClr val="F4F4F4"/>
              </a:gs>
              <a:gs pos="50000">
                <a:schemeClr val="lt2"/>
              </a:gs>
              <a:gs pos="100000">
                <a:srgbClr val="F4F4F4"/>
              </a:gs>
            </a:gsLst>
            <a:lin ang="0" scaled="0"/>
          </a:gradFill>
          <a:ln w="9525" cap="flat" cmpd="sng">
            <a:solidFill>
              <a:srgbClr val="B3ABE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3"/>
          <p:cNvSpPr/>
          <p:nvPr/>
        </p:nvSpPr>
        <p:spPr>
          <a:xfrm rot="5400000" flipH="1">
            <a:off x="-1998313" y="1675297"/>
            <a:ext cx="4032250" cy="3929063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0744" y="10800"/>
                </a:moveTo>
                <a:cubicBezTo>
                  <a:pt x="10744" y="10769"/>
                  <a:pt x="10769" y="10744"/>
                  <a:pt x="10800" y="10744"/>
                </a:cubicBezTo>
                <a:cubicBezTo>
                  <a:pt x="10830" y="10743"/>
                  <a:pt x="10855" y="10769"/>
                  <a:pt x="10856" y="10799"/>
                </a:cubicBezTo>
                <a:lnTo>
                  <a:pt x="21600" y="10800"/>
                </a:lnTo>
                <a:cubicBezTo>
                  <a:pt x="21600" y="4835"/>
                  <a:pt x="16764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close/>
              </a:path>
            </a:pathLst>
          </a:custGeom>
          <a:solidFill>
            <a:srgbClr val="C1DBE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3"/>
          <p:cNvSpPr/>
          <p:nvPr/>
        </p:nvSpPr>
        <p:spPr>
          <a:xfrm>
            <a:off x="1893921" y="5758798"/>
            <a:ext cx="5424985" cy="508000"/>
          </a:xfrm>
          <a:prstGeom prst="roundRect">
            <a:avLst>
              <a:gd name="adj" fmla="val 50000"/>
            </a:avLst>
          </a:prstGeom>
          <a:noFill/>
          <a:ln w="2857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D0CECE"/>
                </a:solidFill>
                <a:latin typeface="Arial"/>
                <a:ea typeface="Arial"/>
                <a:cs typeface="Arial"/>
                <a:sym typeface="Arial"/>
              </a:rPr>
              <a:t>Q&amp;A</a:t>
            </a:r>
            <a:endParaRPr/>
          </a:p>
        </p:txBody>
      </p:sp>
      <p:sp>
        <p:nvSpPr>
          <p:cNvPr id="202" name="Google Shape;202;p3"/>
          <p:cNvSpPr/>
          <p:nvPr/>
        </p:nvSpPr>
        <p:spPr>
          <a:xfrm>
            <a:off x="2625911" y="4649232"/>
            <a:ext cx="5168900" cy="508000"/>
          </a:xfrm>
          <a:prstGeom prst="roundRect">
            <a:avLst>
              <a:gd name="adj" fmla="val 50000"/>
            </a:avLst>
          </a:prstGeom>
          <a:noFill/>
          <a:ln w="2857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1800" b="1" dirty="0">
                <a:solidFill>
                  <a:srgbClr val="D0CECE"/>
                </a:solidFill>
              </a:rPr>
              <a:t>Kết luận &amp; Hướng phát triển </a:t>
            </a:r>
            <a:endParaRPr sz="1800" b="1" dirty="0">
              <a:solidFill>
                <a:srgbClr val="D0CEC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3" name="Google Shape;203;p3"/>
          <p:cNvGrpSpPr/>
          <p:nvPr/>
        </p:nvGrpSpPr>
        <p:grpSpPr>
          <a:xfrm>
            <a:off x="2308411" y="4738132"/>
            <a:ext cx="381000" cy="381000"/>
            <a:chOff x="2078" y="1680"/>
            <a:chExt cx="1615" cy="1615"/>
          </a:xfrm>
        </p:grpSpPr>
        <p:sp>
          <p:nvSpPr>
            <p:cNvPr id="204" name="Google Shape;204;p3"/>
            <p:cNvSpPr/>
            <p:nvPr/>
          </p:nvSpPr>
          <p:spPr>
            <a:xfrm>
              <a:off x="2078" y="1680"/>
              <a:ext cx="1615" cy="1615"/>
            </a:xfrm>
            <a:prstGeom prst="ellipse">
              <a:avLst/>
            </a:prstGeom>
            <a:gradFill>
              <a:gsLst>
                <a:gs pos="0">
                  <a:srgbClr val="B3B3B3"/>
                </a:gs>
                <a:gs pos="50000">
                  <a:srgbClr val="FFFFFF"/>
                </a:gs>
                <a:gs pos="100000">
                  <a:srgbClr val="B3B3B3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" name="Google Shape;205;p3"/>
            <p:cNvSpPr/>
            <p:nvPr/>
          </p:nvSpPr>
          <p:spPr>
            <a:xfrm>
              <a:off x="2170" y="1771"/>
              <a:ext cx="1430" cy="1430"/>
            </a:xfrm>
            <a:prstGeom prst="ellipse">
              <a:avLst/>
            </a:prstGeom>
            <a:gradFill>
              <a:gsLst>
                <a:gs pos="0">
                  <a:srgbClr val="CFCFCF"/>
                </a:gs>
                <a:gs pos="50000">
                  <a:srgbClr val="FFFFFF"/>
                </a:gs>
                <a:gs pos="100000">
                  <a:srgbClr val="CFCFCF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" name="Google Shape;206;p3"/>
            <p:cNvSpPr/>
            <p:nvPr/>
          </p:nvSpPr>
          <p:spPr>
            <a:xfrm>
              <a:off x="2254" y="1856"/>
              <a:ext cx="1262" cy="1264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50000">
                  <a:schemeClr val="hlink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" name="Google Shape;207;p3"/>
            <p:cNvSpPr/>
            <p:nvPr/>
          </p:nvSpPr>
          <p:spPr>
            <a:xfrm>
              <a:off x="2254" y="1856"/>
              <a:ext cx="1262" cy="1264"/>
            </a:xfrm>
            <a:prstGeom prst="ellipse">
              <a:avLst/>
            </a:prstGeom>
            <a:gradFill>
              <a:gsLst>
                <a:gs pos="0">
                  <a:srgbClr val="000000"/>
                </a:gs>
                <a:gs pos="100000">
                  <a:srgbClr val="FFCC00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" name="Google Shape;208;p3"/>
            <p:cNvSpPr/>
            <p:nvPr/>
          </p:nvSpPr>
          <p:spPr>
            <a:xfrm>
              <a:off x="2337" y="1939"/>
              <a:ext cx="1096" cy="1098"/>
            </a:xfrm>
            <a:prstGeom prst="ellipse">
              <a:avLst/>
            </a:prstGeom>
            <a:gradFill>
              <a:gsLst>
                <a:gs pos="0">
                  <a:srgbClr val="034A91"/>
                </a:gs>
                <a:gs pos="50000">
                  <a:schemeClr val="hlink"/>
                </a:gs>
                <a:gs pos="100000">
                  <a:srgbClr val="034A91"/>
                </a:gs>
              </a:gsLst>
              <a:lin ang="189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" name="Google Shape;209;p3"/>
            <p:cNvSpPr/>
            <p:nvPr/>
          </p:nvSpPr>
          <p:spPr>
            <a:xfrm>
              <a:off x="2337" y="1939"/>
              <a:ext cx="1096" cy="1098"/>
            </a:xfrm>
            <a:prstGeom prst="ellipse">
              <a:avLst/>
            </a:prstGeom>
            <a:gradFill>
              <a:gsLst>
                <a:gs pos="0">
                  <a:srgbClr val="FFCC00"/>
                </a:gs>
                <a:gs pos="100000">
                  <a:srgbClr val="B79200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0" name="Google Shape;210;p3"/>
          <p:cNvGrpSpPr/>
          <p:nvPr/>
        </p:nvGrpSpPr>
        <p:grpSpPr>
          <a:xfrm>
            <a:off x="1589122" y="5865161"/>
            <a:ext cx="381000" cy="381000"/>
            <a:chOff x="2078" y="1680"/>
            <a:chExt cx="1615" cy="1615"/>
          </a:xfrm>
        </p:grpSpPr>
        <p:sp>
          <p:nvSpPr>
            <p:cNvPr id="211" name="Google Shape;211;p3"/>
            <p:cNvSpPr/>
            <p:nvPr/>
          </p:nvSpPr>
          <p:spPr>
            <a:xfrm>
              <a:off x="2078" y="1680"/>
              <a:ext cx="1615" cy="1615"/>
            </a:xfrm>
            <a:prstGeom prst="ellipse">
              <a:avLst/>
            </a:prstGeom>
            <a:gradFill>
              <a:gsLst>
                <a:gs pos="0">
                  <a:srgbClr val="B3B3B3"/>
                </a:gs>
                <a:gs pos="50000">
                  <a:srgbClr val="FFFFFF"/>
                </a:gs>
                <a:gs pos="100000">
                  <a:srgbClr val="B3B3B3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" name="Google Shape;212;p3"/>
            <p:cNvSpPr/>
            <p:nvPr/>
          </p:nvSpPr>
          <p:spPr>
            <a:xfrm>
              <a:off x="2170" y="1771"/>
              <a:ext cx="1430" cy="1430"/>
            </a:xfrm>
            <a:prstGeom prst="ellipse">
              <a:avLst/>
            </a:prstGeom>
            <a:gradFill>
              <a:gsLst>
                <a:gs pos="0">
                  <a:srgbClr val="CFCFCF"/>
                </a:gs>
                <a:gs pos="50000">
                  <a:srgbClr val="FFFFFF"/>
                </a:gs>
                <a:gs pos="100000">
                  <a:srgbClr val="CFCFCF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3" name="Google Shape;213;p3"/>
            <p:cNvSpPr/>
            <p:nvPr/>
          </p:nvSpPr>
          <p:spPr>
            <a:xfrm>
              <a:off x="2254" y="1856"/>
              <a:ext cx="1262" cy="1264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50000">
                  <a:schemeClr val="hlink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4" name="Google Shape;214;p3"/>
            <p:cNvSpPr/>
            <p:nvPr/>
          </p:nvSpPr>
          <p:spPr>
            <a:xfrm>
              <a:off x="2254" y="1856"/>
              <a:ext cx="1262" cy="1264"/>
            </a:xfrm>
            <a:prstGeom prst="ellipse">
              <a:avLst/>
            </a:prstGeom>
            <a:gradFill>
              <a:gsLst>
                <a:gs pos="0">
                  <a:srgbClr val="000000"/>
                </a:gs>
                <a:gs pos="100000">
                  <a:srgbClr val="48BE67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5" name="Google Shape;215;p3"/>
            <p:cNvSpPr/>
            <p:nvPr/>
          </p:nvSpPr>
          <p:spPr>
            <a:xfrm>
              <a:off x="2337" y="1939"/>
              <a:ext cx="1096" cy="1098"/>
            </a:xfrm>
            <a:prstGeom prst="ellipse">
              <a:avLst/>
            </a:prstGeom>
            <a:gradFill>
              <a:gsLst>
                <a:gs pos="0">
                  <a:srgbClr val="034A91"/>
                </a:gs>
                <a:gs pos="50000">
                  <a:schemeClr val="hlink"/>
                </a:gs>
                <a:gs pos="100000">
                  <a:srgbClr val="034A91"/>
                </a:gs>
              </a:gsLst>
              <a:lin ang="189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6" name="Google Shape;216;p3"/>
            <p:cNvSpPr/>
            <p:nvPr/>
          </p:nvSpPr>
          <p:spPr>
            <a:xfrm>
              <a:off x="2337" y="1939"/>
              <a:ext cx="1096" cy="1098"/>
            </a:xfrm>
            <a:prstGeom prst="ellipse">
              <a:avLst/>
            </a:prstGeom>
            <a:gradFill>
              <a:gsLst>
                <a:gs pos="0">
                  <a:srgbClr val="48BE67"/>
                </a:gs>
                <a:gs pos="100000">
                  <a:srgbClr val="33884A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185560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4"/>
          <p:cNvSpPr txBox="1">
            <a:spLocks noGrp="1"/>
          </p:cNvSpPr>
          <p:nvPr>
            <p:ph type="title"/>
          </p:nvPr>
        </p:nvSpPr>
        <p:spPr>
          <a:xfrm>
            <a:off x="0" y="387838"/>
            <a:ext cx="8572500" cy="296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vi-VN" sz="3200" dirty="0">
                <a:solidFill>
                  <a:schemeClr val="bg1"/>
                </a:solidFill>
              </a:rPr>
              <a:t> </a:t>
            </a:r>
            <a:r>
              <a:rPr lang="vi-VN" sz="3200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Thiết kế và xây dựng framework</a:t>
            </a:r>
            <a:br>
              <a:rPr lang="vi-VN" sz="3200" dirty="0">
                <a:solidFill>
                  <a:schemeClr val="bg1"/>
                </a:solidFill>
              </a:rPr>
            </a:br>
            <a:endParaRPr sz="3200" dirty="0">
              <a:solidFill>
                <a:schemeClr val="bg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C33718D-AFD6-145B-D69C-B915F28051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8696" y="506004"/>
            <a:ext cx="2545304" cy="6286682"/>
          </a:xfrm>
          <a:prstGeom prst="rect">
            <a:avLst/>
          </a:prstGeo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7B6DEF7A-9850-879F-A785-EDB506DA471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9539" y="1028343"/>
            <a:ext cx="15563617" cy="4801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base/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: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Chứa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lớp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nền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BasePage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(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hàm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dùng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chung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như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click,</a:t>
            </a:r>
            <a:endParaRPr kumimoji="0" lang="vi-V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nhập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chờ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…)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và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config.py (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cấu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hình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URL, timeout).</a:t>
            </a:r>
            <a:endParaRPr kumimoji="0" lang="vi-V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data/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: Lưu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dữ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liệu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kiểm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thử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tách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biệt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khỏi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code,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hỗ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trợ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nhiều</a:t>
            </a:r>
            <a:endParaRPr kumimoji="0" lang="vi-V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định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dạng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(.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json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, .csv, .xlsx)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phục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vụ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kiểm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thử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hướng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dữ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liệu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endParaRPr kumimoji="0" lang="vi-V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pages/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: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Mỗi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file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đại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diện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cho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một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trang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web</a:t>
            </a:r>
            <a:endParaRPr kumimoji="0" lang="vi-V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vi-VN" altLang="en-US" sz="1800" dirty="0">
                <a:solidFill>
                  <a:schemeClr val="tx1"/>
                </a:solidFill>
                <a:latin typeface="+mj-lt"/>
              </a:rPr>
              <a:t>	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dangky_page</a:t>
            </a:r>
            <a:r>
              <a:rPr kumimoji="0" lang="vi-V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=&gt;</a:t>
            </a:r>
            <a:r>
              <a:rPr kumimoji="0" lang="vi-V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Trang Đăng ký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vi-V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	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dangnhap_page</a:t>
            </a:r>
            <a:r>
              <a:rPr kumimoji="0" lang="vi-V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=&gt; </a:t>
            </a:r>
            <a:r>
              <a:rPr kumimoji="0" lang="vi-V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Trang Đăng nhập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vi-VN" altLang="en-US" sz="1800" dirty="0">
                <a:solidFill>
                  <a:schemeClr val="tx1"/>
                </a:solidFill>
                <a:latin typeface="+mj-lt"/>
              </a:rPr>
              <a:t>	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timkiem_page</a:t>
            </a:r>
            <a:r>
              <a:rPr kumimoji="0" lang="vi-V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=&gt; </a:t>
            </a:r>
            <a:r>
              <a:rPr kumimoji="0" lang="vi-V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Trang Tìm kiếm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chứa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locator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và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method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tương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ứng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.</a:t>
            </a:r>
            <a:endParaRPr kumimoji="0" lang="vi-V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tests/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: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Chứa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các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file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kiểm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thử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chính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(test_dangnhap_ddt.py,</a:t>
            </a:r>
            <a:endParaRPr kumimoji="0" lang="vi-V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test_muahang_ddt.py...),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dùng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pytest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và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fixture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trong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conftest.py.</a:t>
            </a:r>
            <a:endParaRPr kumimoji="0" lang="vi-V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utils/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: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Hàm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tiện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ích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như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đọc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dữ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liệu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(data_utils.py),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ghi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báo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endParaRPr kumimoji="0" lang="vi-V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cáo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(report_helper.py).</a:t>
            </a:r>
            <a:endParaRPr kumimoji="0" lang="vi-V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8090729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4"/>
          <p:cNvSpPr txBox="1">
            <a:spLocks noGrp="1"/>
          </p:cNvSpPr>
          <p:nvPr>
            <p:ph type="title"/>
          </p:nvPr>
        </p:nvSpPr>
        <p:spPr>
          <a:xfrm>
            <a:off x="0" y="387838"/>
            <a:ext cx="8572500" cy="296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vi-VN" sz="3200" dirty="0">
                <a:solidFill>
                  <a:schemeClr val="bg1"/>
                </a:solidFill>
              </a:rPr>
              <a:t> </a:t>
            </a:r>
            <a:r>
              <a:rPr lang="vi-VN" sz="3200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Thiết kế và xây dựng framework</a:t>
            </a:r>
            <a:br>
              <a:rPr lang="vi-VN" sz="3200" dirty="0">
                <a:solidFill>
                  <a:schemeClr val="bg1"/>
                </a:solidFill>
              </a:rPr>
            </a:br>
            <a:endParaRPr sz="3200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79DF2EB-A3DF-26C5-414A-3EBADBFA84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3054" y="684207"/>
            <a:ext cx="2347253" cy="5725875"/>
          </a:xfrm>
          <a:prstGeom prst="rect">
            <a:avLst/>
          </a:prstGeo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E634405A-A1C3-E930-532B-F43DD4EB9E1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265319" y="799361"/>
            <a:ext cx="5355953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reports/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: Lưu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kết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quả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kiểm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thử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(report.html, </a:t>
            </a:r>
            <a:endParaRPr kumimoji="0" lang="vi-V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report.xlsx, Allure report).</a:t>
            </a:r>
            <a:endParaRPr kumimoji="0" lang="vi-V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logs/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: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Ghi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log chi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tiết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quá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trình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chạy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.</a:t>
            </a:r>
            <a:endParaRPr kumimoji="0" lang="vi-V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fail_screenshots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/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: Lưu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ảnh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chụp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khi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test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thất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vi-V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bại\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.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venv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/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: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Môi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trường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ảo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chứa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thư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viện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dự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án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.</a:t>
            </a:r>
            <a:endParaRPr kumimoji="0" lang="vi-V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pytest.ini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: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Cấu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hình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cho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Pytest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0437286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4"/>
          <p:cNvSpPr txBox="1">
            <a:spLocks noGrp="1"/>
          </p:cNvSpPr>
          <p:nvPr>
            <p:ph type="title"/>
          </p:nvPr>
        </p:nvSpPr>
        <p:spPr>
          <a:xfrm>
            <a:off x="0" y="387838"/>
            <a:ext cx="8572500" cy="296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vi-VN" sz="3200" dirty="0">
                <a:solidFill>
                  <a:schemeClr val="bg1"/>
                </a:solidFill>
              </a:rPr>
              <a:t> </a:t>
            </a:r>
            <a:r>
              <a:rPr lang="vi-VN" sz="3200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Thiết kế và xây dựng framework</a:t>
            </a:r>
            <a:br>
              <a:rPr lang="vi-VN" sz="3200" dirty="0">
                <a:solidFill>
                  <a:schemeClr val="bg1"/>
                </a:solidFill>
              </a:rPr>
            </a:br>
            <a:endParaRPr sz="32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0F8DBA-213C-4BA9-83E1-720FE53A979A}"/>
              </a:ext>
            </a:extLst>
          </p:cNvPr>
          <p:cNvSpPr txBox="1"/>
          <p:nvPr/>
        </p:nvSpPr>
        <p:spPr>
          <a:xfrm>
            <a:off x="5111496" y="1014984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7AAFE0-5F67-4EBA-AB1F-B85DFF4D24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85750" y="698988"/>
            <a:ext cx="3627882" cy="5912124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endParaRPr lang="vi-V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D3C776D-08A7-779F-F92A-EA5F5D4D1E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607" y="684822"/>
            <a:ext cx="3747898" cy="6105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73121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4"/>
          <p:cNvSpPr txBox="1">
            <a:spLocks noGrp="1"/>
          </p:cNvSpPr>
          <p:nvPr>
            <p:ph type="title"/>
          </p:nvPr>
        </p:nvSpPr>
        <p:spPr>
          <a:xfrm>
            <a:off x="0" y="387838"/>
            <a:ext cx="8572500" cy="296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vi-VN" sz="3200" dirty="0">
                <a:solidFill>
                  <a:schemeClr val="bg1"/>
                </a:solidFill>
              </a:rPr>
              <a:t> </a:t>
            </a:r>
            <a:r>
              <a:rPr lang="vi-VN" sz="3200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Thiết kế và xây dựng framework</a:t>
            </a:r>
            <a:br>
              <a:rPr lang="vi-VN" sz="3200" dirty="0">
                <a:solidFill>
                  <a:schemeClr val="bg1"/>
                </a:solidFill>
              </a:rPr>
            </a:br>
            <a:endParaRPr sz="3200" dirty="0">
              <a:solidFill>
                <a:schemeClr val="bg1"/>
              </a:solidFill>
            </a:endParaRPr>
          </a:p>
        </p:txBody>
      </p:sp>
      <p:sp>
        <p:nvSpPr>
          <p:cNvPr id="222" name="Google Shape;222;p4"/>
          <p:cNvSpPr txBox="1">
            <a:spLocks noGrp="1"/>
          </p:cNvSpPr>
          <p:nvPr>
            <p:ph type="body" idx="1"/>
          </p:nvPr>
        </p:nvSpPr>
        <p:spPr>
          <a:xfrm>
            <a:off x="91439" y="608857"/>
            <a:ext cx="4089795" cy="6146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10000"/>
          </a:bodyPr>
          <a:lstStyle/>
          <a:p>
            <a:pPr marL="114300" indent="0">
              <a:spcAft>
                <a:spcPts val="600"/>
              </a:spcAft>
              <a:buNone/>
            </a:pPr>
            <a:r>
              <a:rPr lang="vi-VN" sz="2400" b="1" dirty="0">
                <a:latin typeface="+mn-lt"/>
              </a:rPr>
              <a:t>Luồng thực thi:</a:t>
            </a:r>
          </a:p>
          <a:p>
            <a:pPr marL="114300" indent="0">
              <a:spcAft>
                <a:spcPts val="600"/>
              </a:spcAft>
              <a:buNone/>
            </a:pPr>
            <a:r>
              <a:rPr lang="vi-VN" sz="1800" dirty="0">
                <a:latin typeface="+mn-lt"/>
              </a:rPr>
              <a:t>Excel/CSV Data </a:t>
            </a:r>
          </a:p>
          <a:p>
            <a:pPr marL="114300" indent="0">
              <a:spcAft>
                <a:spcPts val="600"/>
              </a:spcAft>
              <a:buNone/>
            </a:pPr>
            <a:r>
              <a:rPr lang="vi-VN" sz="1800" dirty="0">
                <a:latin typeface="+mn-lt"/>
              </a:rPr>
              <a:t>            ↓</a:t>
            </a:r>
          </a:p>
          <a:p>
            <a:pPr marL="114300" indent="0">
              <a:spcAft>
                <a:spcPts val="600"/>
              </a:spcAft>
              <a:buNone/>
            </a:pPr>
            <a:r>
              <a:rPr lang="vi-VN" sz="1800" dirty="0">
                <a:latin typeface="+mn-lt"/>
              </a:rPr>
              <a:t>data_utils.py + conftest.py</a:t>
            </a:r>
          </a:p>
          <a:p>
            <a:pPr marL="114300" indent="0">
              <a:spcAft>
                <a:spcPts val="600"/>
              </a:spcAft>
              <a:buNone/>
            </a:pPr>
            <a:r>
              <a:rPr lang="vi-VN" sz="1800" dirty="0">
                <a:latin typeface="+mn-lt"/>
              </a:rPr>
              <a:t>            ↓</a:t>
            </a:r>
          </a:p>
          <a:p>
            <a:pPr marL="114300" indent="0" algn="l">
              <a:spcAft>
                <a:spcPts val="600"/>
              </a:spcAft>
              <a:buNone/>
            </a:pPr>
            <a:r>
              <a:rPr lang="vi-VN" sz="1800" dirty="0">
                <a:latin typeface="+mn-lt"/>
              </a:rPr>
              <a:t> Pytest Test Script(Test_Dagnhap_ddt.py,...)</a:t>
            </a:r>
          </a:p>
          <a:p>
            <a:pPr marL="114300" indent="0">
              <a:spcAft>
                <a:spcPts val="600"/>
              </a:spcAft>
              <a:buNone/>
            </a:pPr>
            <a:r>
              <a:rPr lang="vi-VN" sz="1800" dirty="0">
                <a:latin typeface="+mn-lt"/>
              </a:rPr>
              <a:t>            ↓</a:t>
            </a:r>
          </a:p>
          <a:p>
            <a:pPr marL="114300" indent="0">
              <a:spcAft>
                <a:spcPts val="600"/>
              </a:spcAft>
              <a:buNone/>
            </a:pPr>
            <a:r>
              <a:rPr lang="vi-VN" sz="1800" dirty="0">
                <a:latin typeface="+mn-lt"/>
              </a:rPr>
              <a:t>Page Object (Dangky_Page, ...)</a:t>
            </a:r>
          </a:p>
          <a:p>
            <a:pPr marL="114300" indent="0">
              <a:spcAft>
                <a:spcPts val="600"/>
              </a:spcAft>
              <a:buNone/>
            </a:pPr>
            <a:r>
              <a:rPr lang="vi-VN" sz="1800" dirty="0">
                <a:latin typeface="+mn-lt"/>
              </a:rPr>
              <a:t>            ↓</a:t>
            </a:r>
          </a:p>
          <a:p>
            <a:pPr marL="114300" indent="0">
              <a:spcAft>
                <a:spcPts val="600"/>
              </a:spcAft>
              <a:buNone/>
            </a:pPr>
            <a:r>
              <a:rPr lang="vi-VN" sz="1800" dirty="0">
                <a:latin typeface="+mn-lt"/>
              </a:rPr>
              <a:t>      BasePage</a:t>
            </a:r>
          </a:p>
          <a:p>
            <a:pPr marL="114300" indent="0">
              <a:spcAft>
                <a:spcPts val="600"/>
              </a:spcAft>
              <a:buNone/>
            </a:pPr>
            <a:r>
              <a:rPr lang="vi-VN" sz="1800" dirty="0">
                <a:latin typeface="+mn-lt"/>
              </a:rPr>
              <a:t>            ↓</a:t>
            </a:r>
          </a:p>
          <a:p>
            <a:pPr marL="114300" indent="0">
              <a:spcAft>
                <a:spcPts val="600"/>
              </a:spcAft>
              <a:buNone/>
            </a:pPr>
            <a:r>
              <a:rPr lang="vi-VN" sz="1800" dirty="0">
                <a:latin typeface="+mn-lt"/>
              </a:rPr>
              <a:t>Selenium WebDriver</a:t>
            </a:r>
          </a:p>
          <a:p>
            <a:pPr marL="114300" indent="0">
              <a:spcAft>
                <a:spcPts val="600"/>
              </a:spcAft>
              <a:buNone/>
            </a:pPr>
            <a:r>
              <a:rPr lang="vi-VN" sz="1800" dirty="0">
                <a:latin typeface="+mn-lt"/>
              </a:rPr>
              <a:t>            ↓</a:t>
            </a:r>
          </a:p>
          <a:p>
            <a:pPr marL="114300" indent="0">
              <a:spcAft>
                <a:spcPts val="600"/>
              </a:spcAft>
              <a:buNone/>
            </a:pPr>
            <a:r>
              <a:rPr lang="vi-VN" sz="1800" dirty="0">
                <a:latin typeface="+mn-lt"/>
              </a:rPr>
              <a:t>       Browser</a:t>
            </a:r>
          </a:p>
          <a:p>
            <a:pPr marL="114300" indent="0">
              <a:spcAft>
                <a:spcPts val="600"/>
              </a:spcAft>
              <a:buNone/>
            </a:pPr>
            <a:r>
              <a:rPr lang="vi-VN" sz="1800" dirty="0">
                <a:latin typeface="+mn-lt"/>
              </a:rPr>
              <a:t>            ↓</a:t>
            </a:r>
          </a:p>
          <a:p>
            <a:pPr marL="114300" indent="0">
              <a:spcAft>
                <a:spcPts val="600"/>
              </a:spcAft>
              <a:buNone/>
            </a:pPr>
            <a:r>
              <a:rPr lang="vi-VN" sz="1800" dirty="0">
                <a:latin typeface="+mn-lt"/>
              </a:rPr>
              <a:t>Assertion (KQ mong đợi &amp; KQ thực tế)</a:t>
            </a:r>
          </a:p>
          <a:p>
            <a:pPr marL="114300" indent="0">
              <a:spcAft>
                <a:spcPts val="600"/>
              </a:spcAft>
              <a:buNone/>
            </a:pPr>
            <a:r>
              <a:rPr lang="vi-VN" sz="1800" dirty="0">
                <a:latin typeface="+mn-lt"/>
              </a:rPr>
              <a:t>            ↓</a:t>
            </a:r>
          </a:p>
          <a:p>
            <a:pPr marL="114300" indent="0">
              <a:spcAft>
                <a:spcPts val="600"/>
              </a:spcAft>
              <a:buNone/>
            </a:pPr>
            <a:r>
              <a:rPr lang="vi-VN" sz="1800" dirty="0">
                <a:latin typeface="+mn-lt"/>
              </a:rPr>
              <a:t>Report (HTML/Excel)</a:t>
            </a:r>
          </a:p>
          <a:p>
            <a:pPr marL="114300" indent="0">
              <a:spcAft>
                <a:spcPts val="600"/>
              </a:spcAft>
              <a:buNone/>
            </a:pPr>
            <a:endParaRPr lang="vi-VN" sz="1800" dirty="0">
              <a:latin typeface="+mn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0F8DBA-213C-4BA9-83E1-720FE53A979A}"/>
              </a:ext>
            </a:extLst>
          </p:cNvPr>
          <p:cNvSpPr txBox="1"/>
          <p:nvPr/>
        </p:nvSpPr>
        <p:spPr>
          <a:xfrm>
            <a:off x="5111496" y="1014984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FD82BF41-F8C3-4BB0-AD45-221ABA2FAA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81234" y="536330"/>
            <a:ext cx="4999342" cy="6325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60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Bắt</a:t>
            </a:r>
            <a:r>
              <a:rPr kumimoji="0" lang="en-US" altLang="en-US" sz="16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đầu</a:t>
            </a:r>
            <a:r>
              <a:rPr kumimoji="0" lang="en-US" altLang="en-US" sz="16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chạy</a:t>
            </a:r>
            <a:r>
              <a:rPr kumimoji="0" lang="en-US" altLang="en-US" sz="16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lệnh</a:t>
            </a:r>
            <a:r>
              <a:rPr kumimoji="0" lang="en-US" altLang="en-US" sz="16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pytest</a:t>
            </a:r>
            <a:endParaRPr lang="vi-VN" altLang="en-US" sz="16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Pytest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tìm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và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thực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test case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trong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thư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mục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tests/</a:t>
            </a:r>
            <a:endParaRPr kumimoji="0" lang="vi-VN" altLang="en-US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Test script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gọi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dữ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liệu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đầu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vi-VN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vào: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Từ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file Excel/CSV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thông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qua data_utils.py + conftest.py</a:t>
            </a:r>
            <a:endParaRPr lang="vi-VN" altLang="en-US" sz="16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Test script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khởi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tạo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Page Object</a:t>
            </a:r>
            <a:endParaRPr lang="vi-VN" altLang="en-US" sz="16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Page Object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gọi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các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phương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thức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trong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BasePage</a:t>
            </a:r>
            <a:endParaRPr lang="vi-VN" altLang="en-US" sz="16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Page Object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tương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tác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với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UI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thực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tế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qua WebDriver</a:t>
            </a:r>
            <a:endParaRPr kumimoji="0" lang="vi-VN" altLang="en-US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Sau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mỗi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bước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test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kiểm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điều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kiện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(assert)</a:t>
            </a:r>
            <a:b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→ So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sánh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kết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quả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thực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tế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với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mong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đợi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→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Ghi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log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kết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quả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Pass / Fail</a:t>
            </a:r>
            <a:endParaRPr lang="vi-VN" altLang="en-US" sz="16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Pytest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thu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thập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kết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quả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và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sinh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báo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cáo</a:t>
            </a:r>
            <a:b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→ HTML </a:t>
            </a:r>
            <a:r>
              <a:rPr kumimoji="0" lang="vi-VN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report, Report.xlsx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Kết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thúc</a:t>
            </a:r>
            <a:b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→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Đóng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trình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duyệt</a:t>
            </a:r>
            <a:endParaRPr kumimoji="0" lang="en-US" altLang="en-US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99220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"/>
          <p:cNvSpPr txBox="1">
            <a:spLocks noGrp="1"/>
          </p:cNvSpPr>
          <p:nvPr>
            <p:ph type="title"/>
          </p:nvPr>
        </p:nvSpPr>
        <p:spPr>
          <a:xfrm>
            <a:off x="290146" y="0"/>
            <a:ext cx="7658100" cy="589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</a:pPr>
            <a:r>
              <a:rPr lang="en-US" sz="3200"/>
              <a:t>Nội dung</a:t>
            </a:r>
            <a:endParaRPr/>
          </a:p>
        </p:txBody>
      </p:sp>
      <p:sp>
        <p:nvSpPr>
          <p:cNvPr id="159" name="Google Shape;159;p3"/>
          <p:cNvSpPr/>
          <p:nvPr/>
        </p:nvSpPr>
        <p:spPr>
          <a:xfrm>
            <a:off x="2823719" y="1991540"/>
            <a:ext cx="5612567" cy="508000"/>
          </a:xfrm>
          <a:prstGeom prst="roundRect">
            <a:avLst>
              <a:gd name="adj" fmla="val 50000"/>
            </a:avLst>
          </a:prstGeom>
          <a:noFill/>
          <a:ln w="2857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1800" b="1" dirty="0">
                <a:solidFill>
                  <a:srgbClr val="D0CECE"/>
                </a:solidFill>
                <a:sym typeface="Arial"/>
              </a:rPr>
              <a:t>Thiết kế và xây dựng framework</a:t>
            </a:r>
            <a:endParaRPr b="1" dirty="0">
              <a:solidFill>
                <a:srgbClr val="D0CECE"/>
              </a:solidFill>
            </a:endParaRPr>
          </a:p>
        </p:txBody>
      </p:sp>
      <p:sp>
        <p:nvSpPr>
          <p:cNvPr id="160" name="Google Shape;160;p3"/>
          <p:cNvSpPr/>
          <p:nvPr/>
        </p:nvSpPr>
        <p:spPr>
          <a:xfrm>
            <a:off x="3092010" y="3231999"/>
            <a:ext cx="5612567" cy="508000"/>
          </a:xfrm>
          <a:prstGeom prst="roundRect">
            <a:avLst>
              <a:gd name="adj" fmla="val 50000"/>
            </a:avLst>
          </a:prstGeom>
          <a:noFill/>
          <a:ln w="2857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1800" b="1" dirty="0">
                <a:solidFill>
                  <a:schemeClr val="tx1"/>
                </a:solidFill>
              </a:rPr>
              <a:t>Ứng dụng kiểm thử website Dụng cụ Bar Cafe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62" name="Google Shape;162;p3"/>
          <p:cNvSpPr/>
          <p:nvPr/>
        </p:nvSpPr>
        <p:spPr>
          <a:xfrm>
            <a:off x="1472079" y="866179"/>
            <a:ext cx="5168900" cy="508000"/>
          </a:xfrm>
          <a:prstGeom prst="roundRect">
            <a:avLst>
              <a:gd name="adj" fmla="val 50000"/>
            </a:avLst>
          </a:prstGeom>
          <a:noFill/>
          <a:ln w="2857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1800" b="1" dirty="0">
                <a:solidFill>
                  <a:srgbClr val="D0CECE"/>
                </a:solidFill>
              </a:rPr>
              <a:t>Giới thiệu đề tài </a:t>
            </a:r>
            <a:endParaRPr dirty="0">
              <a:solidFill>
                <a:srgbClr val="D0CECE"/>
              </a:solidFill>
            </a:endParaRPr>
          </a:p>
        </p:txBody>
      </p:sp>
      <p:grpSp>
        <p:nvGrpSpPr>
          <p:cNvPr id="163" name="Google Shape;163;p3"/>
          <p:cNvGrpSpPr/>
          <p:nvPr/>
        </p:nvGrpSpPr>
        <p:grpSpPr>
          <a:xfrm>
            <a:off x="1154579" y="955079"/>
            <a:ext cx="381000" cy="381000"/>
            <a:chOff x="2078" y="1680"/>
            <a:chExt cx="1615" cy="1615"/>
          </a:xfrm>
        </p:grpSpPr>
        <p:sp>
          <p:nvSpPr>
            <p:cNvPr id="164" name="Google Shape;164;p3"/>
            <p:cNvSpPr/>
            <p:nvPr/>
          </p:nvSpPr>
          <p:spPr>
            <a:xfrm>
              <a:off x="2078" y="1680"/>
              <a:ext cx="1615" cy="1615"/>
            </a:xfrm>
            <a:prstGeom prst="ellipse">
              <a:avLst/>
            </a:prstGeom>
            <a:gradFill>
              <a:gsLst>
                <a:gs pos="0">
                  <a:srgbClr val="B3B3B3"/>
                </a:gs>
                <a:gs pos="50000">
                  <a:srgbClr val="FFFFFF"/>
                </a:gs>
                <a:gs pos="100000">
                  <a:srgbClr val="B3B3B3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" name="Google Shape;165;p3"/>
            <p:cNvSpPr/>
            <p:nvPr/>
          </p:nvSpPr>
          <p:spPr>
            <a:xfrm>
              <a:off x="2170" y="1771"/>
              <a:ext cx="1430" cy="1430"/>
            </a:xfrm>
            <a:prstGeom prst="ellipse">
              <a:avLst/>
            </a:prstGeom>
            <a:gradFill>
              <a:gsLst>
                <a:gs pos="0">
                  <a:srgbClr val="CFCFCF"/>
                </a:gs>
                <a:gs pos="50000">
                  <a:srgbClr val="FFFFFF"/>
                </a:gs>
                <a:gs pos="100000">
                  <a:srgbClr val="CFCFCF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" name="Google Shape;166;p3"/>
            <p:cNvSpPr/>
            <p:nvPr/>
          </p:nvSpPr>
          <p:spPr>
            <a:xfrm>
              <a:off x="2254" y="1856"/>
              <a:ext cx="1262" cy="1264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50000">
                  <a:schemeClr val="hlink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" name="Google Shape;167;p3"/>
            <p:cNvSpPr/>
            <p:nvPr/>
          </p:nvSpPr>
          <p:spPr>
            <a:xfrm>
              <a:off x="2254" y="1856"/>
              <a:ext cx="1262" cy="1264"/>
            </a:xfrm>
            <a:prstGeom prst="ellipse">
              <a:avLst/>
            </a:prstGeom>
            <a:gradFill>
              <a:gsLst>
                <a:gs pos="0">
                  <a:srgbClr val="000000"/>
                </a:gs>
                <a:gs pos="100000">
                  <a:srgbClr val="FFCC00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" name="Google Shape;168;p3"/>
            <p:cNvSpPr/>
            <p:nvPr/>
          </p:nvSpPr>
          <p:spPr>
            <a:xfrm>
              <a:off x="2337" y="1939"/>
              <a:ext cx="1096" cy="1098"/>
            </a:xfrm>
            <a:prstGeom prst="ellipse">
              <a:avLst/>
            </a:prstGeom>
            <a:gradFill>
              <a:gsLst>
                <a:gs pos="0">
                  <a:srgbClr val="034A91"/>
                </a:gs>
                <a:gs pos="50000">
                  <a:schemeClr val="hlink"/>
                </a:gs>
                <a:gs pos="100000">
                  <a:srgbClr val="034A91"/>
                </a:gs>
              </a:gsLst>
              <a:lin ang="189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" name="Google Shape;169;p3"/>
            <p:cNvSpPr/>
            <p:nvPr/>
          </p:nvSpPr>
          <p:spPr>
            <a:xfrm>
              <a:off x="2337" y="1939"/>
              <a:ext cx="1096" cy="1098"/>
            </a:xfrm>
            <a:prstGeom prst="ellipse">
              <a:avLst/>
            </a:prstGeom>
            <a:gradFill>
              <a:gsLst>
                <a:gs pos="0">
                  <a:srgbClr val="FFCC00"/>
                </a:gs>
                <a:gs pos="100000">
                  <a:srgbClr val="B79200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7" name="Google Shape;177;p3"/>
          <p:cNvGrpSpPr/>
          <p:nvPr/>
        </p:nvGrpSpPr>
        <p:grpSpPr>
          <a:xfrm>
            <a:off x="2303731" y="2054394"/>
            <a:ext cx="381000" cy="381000"/>
            <a:chOff x="2078" y="1680"/>
            <a:chExt cx="1615" cy="1615"/>
          </a:xfrm>
        </p:grpSpPr>
        <p:sp>
          <p:nvSpPr>
            <p:cNvPr id="178" name="Google Shape;178;p3"/>
            <p:cNvSpPr/>
            <p:nvPr/>
          </p:nvSpPr>
          <p:spPr>
            <a:xfrm>
              <a:off x="2078" y="1680"/>
              <a:ext cx="1615" cy="1615"/>
            </a:xfrm>
            <a:prstGeom prst="ellipse">
              <a:avLst/>
            </a:prstGeom>
            <a:gradFill>
              <a:gsLst>
                <a:gs pos="0">
                  <a:srgbClr val="B3B3B3"/>
                </a:gs>
                <a:gs pos="50000">
                  <a:srgbClr val="FFFFFF"/>
                </a:gs>
                <a:gs pos="100000">
                  <a:srgbClr val="B3B3B3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" name="Google Shape;179;p3"/>
            <p:cNvSpPr/>
            <p:nvPr/>
          </p:nvSpPr>
          <p:spPr>
            <a:xfrm>
              <a:off x="2170" y="1771"/>
              <a:ext cx="1430" cy="1430"/>
            </a:xfrm>
            <a:prstGeom prst="ellipse">
              <a:avLst/>
            </a:prstGeom>
            <a:gradFill>
              <a:gsLst>
                <a:gs pos="0">
                  <a:srgbClr val="CFCFCF"/>
                </a:gs>
                <a:gs pos="50000">
                  <a:srgbClr val="FFFFFF"/>
                </a:gs>
                <a:gs pos="100000">
                  <a:srgbClr val="CFCFCF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" name="Google Shape;180;p3"/>
            <p:cNvSpPr/>
            <p:nvPr/>
          </p:nvSpPr>
          <p:spPr>
            <a:xfrm>
              <a:off x="2254" y="1856"/>
              <a:ext cx="1262" cy="1264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50000">
                  <a:schemeClr val="hlink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" name="Google Shape;181;p3"/>
            <p:cNvSpPr/>
            <p:nvPr/>
          </p:nvSpPr>
          <p:spPr>
            <a:xfrm>
              <a:off x="2254" y="1856"/>
              <a:ext cx="1262" cy="1264"/>
            </a:xfrm>
            <a:prstGeom prst="ellipse">
              <a:avLst/>
            </a:prstGeom>
            <a:gradFill>
              <a:gsLst>
                <a:gs pos="0">
                  <a:srgbClr val="21B3E1"/>
                </a:gs>
                <a:gs pos="100000">
                  <a:srgbClr val="177E9E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" name="Google Shape;182;p3"/>
            <p:cNvSpPr/>
            <p:nvPr/>
          </p:nvSpPr>
          <p:spPr>
            <a:xfrm>
              <a:off x="2337" y="1939"/>
              <a:ext cx="1096" cy="1098"/>
            </a:xfrm>
            <a:prstGeom prst="ellipse">
              <a:avLst/>
            </a:prstGeom>
            <a:gradFill>
              <a:gsLst>
                <a:gs pos="0">
                  <a:srgbClr val="034A91"/>
                </a:gs>
                <a:gs pos="50000">
                  <a:schemeClr val="hlink"/>
                </a:gs>
                <a:gs pos="100000">
                  <a:srgbClr val="034A91"/>
                </a:gs>
              </a:gsLst>
              <a:lin ang="189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" name="Google Shape;183;p3"/>
            <p:cNvSpPr/>
            <p:nvPr/>
          </p:nvSpPr>
          <p:spPr>
            <a:xfrm>
              <a:off x="2337" y="1939"/>
              <a:ext cx="1096" cy="1098"/>
            </a:xfrm>
            <a:prstGeom prst="ellipse">
              <a:avLst/>
            </a:prstGeom>
            <a:gradFill>
              <a:gsLst>
                <a:gs pos="0">
                  <a:srgbClr val="21B3E1"/>
                </a:gs>
                <a:gs pos="100000">
                  <a:srgbClr val="1780A2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4" name="Google Shape;184;p3"/>
          <p:cNvGrpSpPr/>
          <p:nvPr/>
        </p:nvGrpSpPr>
        <p:grpSpPr>
          <a:xfrm>
            <a:off x="2568883" y="3311314"/>
            <a:ext cx="355600" cy="381000"/>
            <a:chOff x="2078" y="1680"/>
            <a:chExt cx="1615" cy="1615"/>
          </a:xfrm>
        </p:grpSpPr>
        <p:sp>
          <p:nvSpPr>
            <p:cNvPr id="185" name="Google Shape;185;p3"/>
            <p:cNvSpPr/>
            <p:nvPr/>
          </p:nvSpPr>
          <p:spPr>
            <a:xfrm>
              <a:off x="2078" y="1680"/>
              <a:ext cx="1615" cy="1615"/>
            </a:xfrm>
            <a:prstGeom prst="ellipse">
              <a:avLst/>
            </a:prstGeom>
            <a:gradFill>
              <a:gsLst>
                <a:gs pos="0">
                  <a:srgbClr val="B3B3B3"/>
                </a:gs>
                <a:gs pos="50000">
                  <a:srgbClr val="FFFFFF"/>
                </a:gs>
                <a:gs pos="100000">
                  <a:srgbClr val="B3B3B3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" name="Google Shape;186;p3"/>
            <p:cNvSpPr/>
            <p:nvPr/>
          </p:nvSpPr>
          <p:spPr>
            <a:xfrm>
              <a:off x="2170" y="1771"/>
              <a:ext cx="1430" cy="1430"/>
            </a:xfrm>
            <a:prstGeom prst="ellipse">
              <a:avLst/>
            </a:prstGeom>
            <a:gradFill>
              <a:gsLst>
                <a:gs pos="0">
                  <a:srgbClr val="CFCFCF"/>
                </a:gs>
                <a:gs pos="50000">
                  <a:srgbClr val="FFFFFF"/>
                </a:gs>
                <a:gs pos="100000">
                  <a:srgbClr val="CFCFCF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" name="Google Shape;187;p3"/>
            <p:cNvSpPr/>
            <p:nvPr/>
          </p:nvSpPr>
          <p:spPr>
            <a:xfrm>
              <a:off x="2254" y="1856"/>
              <a:ext cx="1262" cy="1264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50000">
                  <a:schemeClr val="hlink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" name="Google Shape;188;p3"/>
            <p:cNvSpPr/>
            <p:nvPr/>
          </p:nvSpPr>
          <p:spPr>
            <a:xfrm>
              <a:off x="2254" y="1856"/>
              <a:ext cx="1262" cy="1264"/>
            </a:xfrm>
            <a:prstGeom prst="ellipse">
              <a:avLst/>
            </a:prstGeom>
            <a:gradFill>
              <a:gsLst>
                <a:gs pos="0">
                  <a:srgbClr val="000000"/>
                </a:gs>
                <a:gs pos="100000">
                  <a:srgbClr val="E35E23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9" name="Google Shape;189;p3"/>
            <p:cNvSpPr/>
            <p:nvPr/>
          </p:nvSpPr>
          <p:spPr>
            <a:xfrm>
              <a:off x="2337" y="1939"/>
              <a:ext cx="1096" cy="1098"/>
            </a:xfrm>
            <a:prstGeom prst="ellipse">
              <a:avLst/>
            </a:prstGeom>
            <a:gradFill>
              <a:gsLst>
                <a:gs pos="0">
                  <a:srgbClr val="034A91"/>
                </a:gs>
                <a:gs pos="50000">
                  <a:schemeClr val="hlink"/>
                </a:gs>
                <a:gs pos="100000">
                  <a:srgbClr val="034A91"/>
                </a:gs>
              </a:gsLst>
              <a:lin ang="189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0" name="Google Shape;190;p3"/>
            <p:cNvSpPr/>
            <p:nvPr/>
          </p:nvSpPr>
          <p:spPr>
            <a:xfrm>
              <a:off x="2337" y="1939"/>
              <a:ext cx="1096" cy="1098"/>
            </a:xfrm>
            <a:prstGeom prst="ellipse">
              <a:avLst/>
            </a:prstGeom>
            <a:gradFill>
              <a:gsLst>
                <a:gs pos="0">
                  <a:srgbClr val="E35E23"/>
                </a:gs>
                <a:gs pos="100000">
                  <a:srgbClr val="A34319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9" name="Google Shape;199;p3"/>
          <p:cNvSpPr/>
          <p:nvPr/>
        </p:nvSpPr>
        <p:spPr>
          <a:xfrm rot="5400000">
            <a:off x="-2403921" y="1239529"/>
            <a:ext cx="4824413" cy="4770438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323" y="10641"/>
                </a:moveTo>
                <a:cubicBezTo>
                  <a:pt x="410" y="4916"/>
                  <a:pt x="5075" y="321"/>
                  <a:pt x="10800" y="322"/>
                </a:cubicBezTo>
                <a:cubicBezTo>
                  <a:pt x="16524" y="322"/>
                  <a:pt x="21189" y="4916"/>
                  <a:pt x="21276" y="10641"/>
                </a:cubicBezTo>
                <a:lnTo>
                  <a:pt x="21598" y="10636"/>
                </a:lnTo>
                <a:cubicBezTo>
                  <a:pt x="21509" y="4736"/>
                  <a:pt x="16700" y="-1"/>
                  <a:pt x="10799" y="0"/>
                </a:cubicBezTo>
                <a:cubicBezTo>
                  <a:pt x="4899" y="0"/>
                  <a:pt x="90" y="4736"/>
                  <a:pt x="1" y="10636"/>
                </a:cubicBezTo>
                <a:close/>
              </a:path>
            </a:pathLst>
          </a:custGeom>
          <a:gradFill>
            <a:gsLst>
              <a:gs pos="0">
                <a:srgbClr val="F4F4F4"/>
              </a:gs>
              <a:gs pos="50000">
                <a:schemeClr val="lt2"/>
              </a:gs>
              <a:gs pos="100000">
                <a:srgbClr val="F4F4F4"/>
              </a:gs>
            </a:gsLst>
            <a:lin ang="0" scaled="0"/>
          </a:gradFill>
          <a:ln w="9525" cap="flat" cmpd="sng">
            <a:solidFill>
              <a:srgbClr val="B3ABE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3"/>
          <p:cNvSpPr/>
          <p:nvPr/>
        </p:nvSpPr>
        <p:spPr>
          <a:xfrm rot="5400000" flipH="1">
            <a:off x="-1998313" y="1675297"/>
            <a:ext cx="4032250" cy="3929063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0744" y="10800"/>
                </a:moveTo>
                <a:cubicBezTo>
                  <a:pt x="10744" y="10769"/>
                  <a:pt x="10769" y="10744"/>
                  <a:pt x="10800" y="10744"/>
                </a:cubicBezTo>
                <a:cubicBezTo>
                  <a:pt x="10830" y="10743"/>
                  <a:pt x="10855" y="10769"/>
                  <a:pt x="10856" y="10799"/>
                </a:cubicBezTo>
                <a:lnTo>
                  <a:pt x="21600" y="10800"/>
                </a:lnTo>
                <a:cubicBezTo>
                  <a:pt x="21600" y="4835"/>
                  <a:pt x="16764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close/>
              </a:path>
            </a:pathLst>
          </a:custGeom>
          <a:solidFill>
            <a:srgbClr val="C1DBE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3"/>
          <p:cNvSpPr/>
          <p:nvPr/>
        </p:nvSpPr>
        <p:spPr>
          <a:xfrm>
            <a:off x="1893921" y="5758798"/>
            <a:ext cx="5424985" cy="508000"/>
          </a:xfrm>
          <a:prstGeom prst="roundRect">
            <a:avLst>
              <a:gd name="adj" fmla="val 50000"/>
            </a:avLst>
          </a:prstGeom>
          <a:noFill/>
          <a:ln w="2857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D0CECE"/>
                </a:solidFill>
                <a:latin typeface="Arial"/>
                <a:ea typeface="Arial"/>
                <a:cs typeface="Arial"/>
                <a:sym typeface="Arial"/>
              </a:rPr>
              <a:t>Q&amp;A</a:t>
            </a:r>
            <a:endParaRPr/>
          </a:p>
        </p:txBody>
      </p:sp>
      <p:sp>
        <p:nvSpPr>
          <p:cNvPr id="202" name="Google Shape;202;p3"/>
          <p:cNvSpPr/>
          <p:nvPr/>
        </p:nvSpPr>
        <p:spPr>
          <a:xfrm>
            <a:off x="2625911" y="4649232"/>
            <a:ext cx="5168900" cy="508000"/>
          </a:xfrm>
          <a:prstGeom prst="roundRect">
            <a:avLst>
              <a:gd name="adj" fmla="val 50000"/>
            </a:avLst>
          </a:prstGeom>
          <a:noFill/>
          <a:ln w="2857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1800" b="1" dirty="0">
                <a:solidFill>
                  <a:srgbClr val="D0CECE"/>
                </a:solidFill>
              </a:rPr>
              <a:t>Kết luận &amp; Hướng phát triển </a:t>
            </a:r>
            <a:endParaRPr sz="1800" b="1" dirty="0">
              <a:solidFill>
                <a:srgbClr val="D0CEC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3" name="Google Shape;203;p3"/>
          <p:cNvGrpSpPr/>
          <p:nvPr/>
        </p:nvGrpSpPr>
        <p:grpSpPr>
          <a:xfrm>
            <a:off x="2308411" y="4738132"/>
            <a:ext cx="381000" cy="381000"/>
            <a:chOff x="2078" y="1680"/>
            <a:chExt cx="1615" cy="1615"/>
          </a:xfrm>
        </p:grpSpPr>
        <p:sp>
          <p:nvSpPr>
            <p:cNvPr id="204" name="Google Shape;204;p3"/>
            <p:cNvSpPr/>
            <p:nvPr/>
          </p:nvSpPr>
          <p:spPr>
            <a:xfrm>
              <a:off x="2078" y="1680"/>
              <a:ext cx="1615" cy="1615"/>
            </a:xfrm>
            <a:prstGeom prst="ellipse">
              <a:avLst/>
            </a:prstGeom>
            <a:gradFill>
              <a:gsLst>
                <a:gs pos="0">
                  <a:srgbClr val="B3B3B3"/>
                </a:gs>
                <a:gs pos="50000">
                  <a:srgbClr val="FFFFFF"/>
                </a:gs>
                <a:gs pos="100000">
                  <a:srgbClr val="B3B3B3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" name="Google Shape;205;p3"/>
            <p:cNvSpPr/>
            <p:nvPr/>
          </p:nvSpPr>
          <p:spPr>
            <a:xfrm>
              <a:off x="2170" y="1771"/>
              <a:ext cx="1430" cy="1430"/>
            </a:xfrm>
            <a:prstGeom prst="ellipse">
              <a:avLst/>
            </a:prstGeom>
            <a:gradFill>
              <a:gsLst>
                <a:gs pos="0">
                  <a:srgbClr val="CFCFCF"/>
                </a:gs>
                <a:gs pos="50000">
                  <a:srgbClr val="FFFFFF"/>
                </a:gs>
                <a:gs pos="100000">
                  <a:srgbClr val="CFCFCF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" name="Google Shape;206;p3"/>
            <p:cNvSpPr/>
            <p:nvPr/>
          </p:nvSpPr>
          <p:spPr>
            <a:xfrm>
              <a:off x="2254" y="1856"/>
              <a:ext cx="1262" cy="1264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50000">
                  <a:schemeClr val="hlink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" name="Google Shape;207;p3"/>
            <p:cNvSpPr/>
            <p:nvPr/>
          </p:nvSpPr>
          <p:spPr>
            <a:xfrm>
              <a:off x="2254" y="1856"/>
              <a:ext cx="1262" cy="1264"/>
            </a:xfrm>
            <a:prstGeom prst="ellipse">
              <a:avLst/>
            </a:prstGeom>
            <a:gradFill>
              <a:gsLst>
                <a:gs pos="0">
                  <a:srgbClr val="000000"/>
                </a:gs>
                <a:gs pos="100000">
                  <a:srgbClr val="FFCC00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" name="Google Shape;208;p3"/>
            <p:cNvSpPr/>
            <p:nvPr/>
          </p:nvSpPr>
          <p:spPr>
            <a:xfrm>
              <a:off x="2337" y="1939"/>
              <a:ext cx="1096" cy="1098"/>
            </a:xfrm>
            <a:prstGeom prst="ellipse">
              <a:avLst/>
            </a:prstGeom>
            <a:gradFill>
              <a:gsLst>
                <a:gs pos="0">
                  <a:srgbClr val="034A91"/>
                </a:gs>
                <a:gs pos="50000">
                  <a:schemeClr val="hlink"/>
                </a:gs>
                <a:gs pos="100000">
                  <a:srgbClr val="034A91"/>
                </a:gs>
              </a:gsLst>
              <a:lin ang="189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" name="Google Shape;209;p3"/>
            <p:cNvSpPr/>
            <p:nvPr/>
          </p:nvSpPr>
          <p:spPr>
            <a:xfrm>
              <a:off x="2337" y="1939"/>
              <a:ext cx="1096" cy="1098"/>
            </a:xfrm>
            <a:prstGeom prst="ellipse">
              <a:avLst/>
            </a:prstGeom>
            <a:gradFill>
              <a:gsLst>
                <a:gs pos="0">
                  <a:srgbClr val="FFCC00"/>
                </a:gs>
                <a:gs pos="100000">
                  <a:srgbClr val="B79200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0" name="Google Shape;210;p3"/>
          <p:cNvGrpSpPr/>
          <p:nvPr/>
        </p:nvGrpSpPr>
        <p:grpSpPr>
          <a:xfrm>
            <a:off x="1589122" y="5865161"/>
            <a:ext cx="381000" cy="381000"/>
            <a:chOff x="2078" y="1680"/>
            <a:chExt cx="1615" cy="1615"/>
          </a:xfrm>
        </p:grpSpPr>
        <p:sp>
          <p:nvSpPr>
            <p:cNvPr id="211" name="Google Shape;211;p3"/>
            <p:cNvSpPr/>
            <p:nvPr/>
          </p:nvSpPr>
          <p:spPr>
            <a:xfrm>
              <a:off x="2078" y="1680"/>
              <a:ext cx="1615" cy="1615"/>
            </a:xfrm>
            <a:prstGeom prst="ellipse">
              <a:avLst/>
            </a:prstGeom>
            <a:gradFill>
              <a:gsLst>
                <a:gs pos="0">
                  <a:srgbClr val="B3B3B3"/>
                </a:gs>
                <a:gs pos="50000">
                  <a:srgbClr val="FFFFFF"/>
                </a:gs>
                <a:gs pos="100000">
                  <a:srgbClr val="B3B3B3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" name="Google Shape;212;p3"/>
            <p:cNvSpPr/>
            <p:nvPr/>
          </p:nvSpPr>
          <p:spPr>
            <a:xfrm>
              <a:off x="2170" y="1771"/>
              <a:ext cx="1430" cy="1430"/>
            </a:xfrm>
            <a:prstGeom prst="ellipse">
              <a:avLst/>
            </a:prstGeom>
            <a:gradFill>
              <a:gsLst>
                <a:gs pos="0">
                  <a:srgbClr val="CFCFCF"/>
                </a:gs>
                <a:gs pos="50000">
                  <a:srgbClr val="FFFFFF"/>
                </a:gs>
                <a:gs pos="100000">
                  <a:srgbClr val="CFCFCF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3" name="Google Shape;213;p3"/>
            <p:cNvSpPr/>
            <p:nvPr/>
          </p:nvSpPr>
          <p:spPr>
            <a:xfrm>
              <a:off x="2254" y="1856"/>
              <a:ext cx="1262" cy="1264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50000">
                  <a:schemeClr val="hlink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4" name="Google Shape;214;p3"/>
            <p:cNvSpPr/>
            <p:nvPr/>
          </p:nvSpPr>
          <p:spPr>
            <a:xfrm>
              <a:off x="2254" y="1856"/>
              <a:ext cx="1262" cy="1264"/>
            </a:xfrm>
            <a:prstGeom prst="ellipse">
              <a:avLst/>
            </a:prstGeom>
            <a:gradFill>
              <a:gsLst>
                <a:gs pos="0">
                  <a:srgbClr val="000000"/>
                </a:gs>
                <a:gs pos="100000">
                  <a:srgbClr val="48BE67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5" name="Google Shape;215;p3"/>
            <p:cNvSpPr/>
            <p:nvPr/>
          </p:nvSpPr>
          <p:spPr>
            <a:xfrm>
              <a:off x="2337" y="1939"/>
              <a:ext cx="1096" cy="1098"/>
            </a:xfrm>
            <a:prstGeom prst="ellipse">
              <a:avLst/>
            </a:prstGeom>
            <a:gradFill>
              <a:gsLst>
                <a:gs pos="0">
                  <a:srgbClr val="034A91"/>
                </a:gs>
                <a:gs pos="50000">
                  <a:schemeClr val="hlink"/>
                </a:gs>
                <a:gs pos="100000">
                  <a:srgbClr val="034A91"/>
                </a:gs>
              </a:gsLst>
              <a:lin ang="189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6" name="Google Shape;216;p3"/>
            <p:cNvSpPr/>
            <p:nvPr/>
          </p:nvSpPr>
          <p:spPr>
            <a:xfrm>
              <a:off x="2337" y="1939"/>
              <a:ext cx="1096" cy="1098"/>
            </a:xfrm>
            <a:prstGeom prst="ellipse">
              <a:avLst/>
            </a:prstGeom>
            <a:gradFill>
              <a:gsLst>
                <a:gs pos="0">
                  <a:srgbClr val="48BE67"/>
                </a:gs>
                <a:gs pos="100000">
                  <a:srgbClr val="33884A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504144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AD0509-8983-4F0F-BAD9-0CE02937F1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sz="2800" dirty="0"/>
              <a:t>Ứng dụng kiểm thử website Dụng cụ Bar Cafe</a:t>
            </a:r>
            <a:endParaRPr lang="en-US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A3669D-39B8-480E-891A-DBA5673F8F64}"/>
              </a:ext>
            </a:extLst>
          </p:cNvPr>
          <p:cNvSpPr txBox="1"/>
          <p:nvPr/>
        </p:nvSpPr>
        <p:spPr>
          <a:xfrm>
            <a:off x="722299" y="883139"/>
            <a:ext cx="760534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600" dirty="0"/>
              <a:t>Ứng dụng kiểm thử WebsiteDungj cụ Bar Cafe</a:t>
            </a:r>
          </a:p>
          <a:p>
            <a:r>
              <a:rPr lang="vi-VN" sz="1600" dirty="0"/>
              <a:t>Các nghiệp vụ chính: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sz="1600" dirty="0"/>
              <a:t>Đăng nhập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sz="1600" dirty="0"/>
              <a:t>Đăng ký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sz="1600" dirty="0"/>
              <a:t>Tìm kiếm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sz="1600" dirty="0"/>
              <a:t>Hồ sơ tài khoản</a:t>
            </a:r>
          </a:p>
          <a:p>
            <a:r>
              <a:rPr lang="vi-VN" sz="1600" dirty="0"/>
              <a:t>Hướng kiểm thử: hướng dữ liệu (Data-Driven Testing) với dữ liệu đầu vào dạng .csv, .xlsx, .json</a:t>
            </a:r>
          </a:p>
          <a:p>
            <a:endParaRPr lang="en-US" sz="1600" dirty="0"/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EB892585-DA20-42F0-9D65-BFE7B36EF0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1711318"/>
              </p:ext>
            </p:extLst>
          </p:nvPr>
        </p:nvGraphicFramePr>
        <p:xfrm>
          <a:off x="1585561" y="3494309"/>
          <a:ext cx="5972877" cy="2372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8705">
                  <a:extLst>
                    <a:ext uri="{9D8B030D-6E8A-4147-A177-3AD203B41FA5}">
                      <a16:colId xmlns:a16="http://schemas.microsoft.com/office/drawing/2014/main" val="1901067909"/>
                    </a:ext>
                  </a:extLst>
                </a:gridCol>
                <a:gridCol w="1651519">
                  <a:extLst>
                    <a:ext uri="{9D8B030D-6E8A-4147-A177-3AD203B41FA5}">
                      <a16:colId xmlns:a16="http://schemas.microsoft.com/office/drawing/2014/main" val="769896204"/>
                    </a:ext>
                  </a:extLst>
                </a:gridCol>
                <a:gridCol w="1306285">
                  <a:extLst>
                    <a:ext uri="{9D8B030D-6E8A-4147-A177-3AD203B41FA5}">
                      <a16:colId xmlns:a16="http://schemas.microsoft.com/office/drawing/2014/main" val="3923002131"/>
                    </a:ext>
                  </a:extLst>
                </a:gridCol>
                <a:gridCol w="1026368">
                  <a:extLst>
                    <a:ext uri="{9D8B030D-6E8A-4147-A177-3AD203B41FA5}">
                      <a16:colId xmlns:a16="http://schemas.microsoft.com/office/drawing/2014/main" val="244777292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vi-VN" dirty="0"/>
                        <a:t>Chức năng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dirty="0"/>
                        <a:t>Số lượng kịch bản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dirty="0"/>
                        <a:t>Pass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dirty="0"/>
                        <a:t>Fail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90073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vi-VN" dirty="0"/>
                        <a:t>Đăng nhập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dirty="0"/>
                        <a:t>45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dirty="0"/>
                        <a:t>39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dirty="0"/>
                        <a:t>6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57379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vi-VN" dirty="0"/>
                        <a:t>Đăng ký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dirty="0"/>
                        <a:t>60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dirty="0"/>
                        <a:t>44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dirty="0"/>
                        <a:t>16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43385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vi-VN" dirty="0"/>
                        <a:t>Tìm kiếm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dirty="0"/>
                        <a:t>36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dirty="0"/>
                        <a:t>36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dirty="0"/>
                        <a:t>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80400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vi-VN" dirty="0"/>
                        <a:t>Cập nhật thông tin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dirty="0"/>
                        <a:t>63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dirty="0"/>
                        <a:t>60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dirty="0"/>
                        <a:t>3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34857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vi-VN" b="1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Tổng số</a:t>
                      </a:r>
                      <a:endParaRPr lang="en-US" b="1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b="1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204</a:t>
                      </a:r>
                      <a:endParaRPr lang="en-US" b="1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b="1" dirty="0"/>
                        <a:t>179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b="1" dirty="0"/>
                        <a:t>25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56832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830683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"/>
          <p:cNvSpPr txBox="1">
            <a:spLocks noGrp="1"/>
          </p:cNvSpPr>
          <p:nvPr>
            <p:ph type="title"/>
          </p:nvPr>
        </p:nvSpPr>
        <p:spPr>
          <a:xfrm>
            <a:off x="290146" y="0"/>
            <a:ext cx="7658100" cy="589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</a:pPr>
            <a:r>
              <a:rPr lang="en-US" sz="3200"/>
              <a:t>Nội dung</a:t>
            </a:r>
            <a:endParaRPr/>
          </a:p>
        </p:txBody>
      </p:sp>
      <p:sp>
        <p:nvSpPr>
          <p:cNvPr id="159" name="Google Shape;159;p3"/>
          <p:cNvSpPr/>
          <p:nvPr/>
        </p:nvSpPr>
        <p:spPr>
          <a:xfrm>
            <a:off x="2823719" y="1991540"/>
            <a:ext cx="5612567" cy="508000"/>
          </a:xfrm>
          <a:prstGeom prst="roundRect">
            <a:avLst>
              <a:gd name="adj" fmla="val 50000"/>
            </a:avLst>
          </a:prstGeom>
          <a:noFill/>
          <a:ln w="2857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1800" b="1" dirty="0">
                <a:solidFill>
                  <a:srgbClr val="D0CECE"/>
                </a:solidFill>
                <a:sym typeface="Arial"/>
              </a:rPr>
              <a:t>Thiết kế và xây dựng framework</a:t>
            </a:r>
            <a:endParaRPr b="1" dirty="0">
              <a:solidFill>
                <a:srgbClr val="D0CECE"/>
              </a:solidFill>
            </a:endParaRPr>
          </a:p>
        </p:txBody>
      </p:sp>
      <p:sp>
        <p:nvSpPr>
          <p:cNvPr id="160" name="Google Shape;160;p3"/>
          <p:cNvSpPr/>
          <p:nvPr/>
        </p:nvSpPr>
        <p:spPr>
          <a:xfrm>
            <a:off x="3092010" y="3231999"/>
            <a:ext cx="5612567" cy="508000"/>
          </a:xfrm>
          <a:prstGeom prst="roundRect">
            <a:avLst>
              <a:gd name="adj" fmla="val 50000"/>
            </a:avLst>
          </a:prstGeom>
          <a:noFill/>
          <a:ln w="2857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vi-VN" sz="1800" b="1" dirty="0">
                <a:solidFill>
                  <a:srgbClr val="D0CECE"/>
                </a:solidFill>
              </a:rPr>
              <a:t>Ứng dụng kiểm thử website Dụng cụ Bar Cafe</a:t>
            </a:r>
            <a:endParaRPr lang="vi-VN" sz="1800" dirty="0">
              <a:solidFill>
                <a:srgbClr val="D0CECE"/>
              </a:solidFill>
            </a:endParaRPr>
          </a:p>
        </p:txBody>
      </p:sp>
      <p:sp>
        <p:nvSpPr>
          <p:cNvPr id="162" name="Google Shape;162;p3"/>
          <p:cNvSpPr/>
          <p:nvPr/>
        </p:nvSpPr>
        <p:spPr>
          <a:xfrm>
            <a:off x="1472079" y="866179"/>
            <a:ext cx="5168900" cy="508000"/>
          </a:xfrm>
          <a:prstGeom prst="roundRect">
            <a:avLst>
              <a:gd name="adj" fmla="val 50000"/>
            </a:avLst>
          </a:prstGeom>
          <a:noFill/>
          <a:ln w="2857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1800" b="1" dirty="0">
                <a:solidFill>
                  <a:srgbClr val="D0CECE"/>
                </a:solidFill>
              </a:rPr>
              <a:t>Giới thiệu đề tài </a:t>
            </a:r>
            <a:endParaRPr dirty="0">
              <a:solidFill>
                <a:srgbClr val="D0CECE"/>
              </a:solidFill>
            </a:endParaRPr>
          </a:p>
        </p:txBody>
      </p:sp>
      <p:grpSp>
        <p:nvGrpSpPr>
          <p:cNvPr id="163" name="Google Shape;163;p3"/>
          <p:cNvGrpSpPr/>
          <p:nvPr/>
        </p:nvGrpSpPr>
        <p:grpSpPr>
          <a:xfrm>
            <a:off x="1154579" y="955079"/>
            <a:ext cx="381000" cy="381000"/>
            <a:chOff x="2078" y="1680"/>
            <a:chExt cx="1615" cy="1615"/>
          </a:xfrm>
        </p:grpSpPr>
        <p:sp>
          <p:nvSpPr>
            <p:cNvPr id="164" name="Google Shape;164;p3"/>
            <p:cNvSpPr/>
            <p:nvPr/>
          </p:nvSpPr>
          <p:spPr>
            <a:xfrm>
              <a:off x="2078" y="1680"/>
              <a:ext cx="1615" cy="1615"/>
            </a:xfrm>
            <a:prstGeom prst="ellipse">
              <a:avLst/>
            </a:prstGeom>
            <a:gradFill>
              <a:gsLst>
                <a:gs pos="0">
                  <a:srgbClr val="B3B3B3"/>
                </a:gs>
                <a:gs pos="50000">
                  <a:srgbClr val="FFFFFF"/>
                </a:gs>
                <a:gs pos="100000">
                  <a:srgbClr val="B3B3B3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" name="Google Shape;165;p3"/>
            <p:cNvSpPr/>
            <p:nvPr/>
          </p:nvSpPr>
          <p:spPr>
            <a:xfrm>
              <a:off x="2170" y="1771"/>
              <a:ext cx="1430" cy="1430"/>
            </a:xfrm>
            <a:prstGeom prst="ellipse">
              <a:avLst/>
            </a:prstGeom>
            <a:gradFill>
              <a:gsLst>
                <a:gs pos="0">
                  <a:srgbClr val="CFCFCF"/>
                </a:gs>
                <a:gs pos="50000">
                  <a:srgbClr val="FFFFFF"/>
                </a:gs>
                <a:gs pos="100000">
                  <a:srgbClr val="CFCFCF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" name="Google Shape;166;p3"/>
            <p:cNvSpPr/>
            <p:nvPr/>
          </p:nvSpPr>
          <p:spPr>
            <a:xfrm>
              <a:off x="2254" y="1856"/>
              <a:ext cx="1262" cy="1264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50000">
                  <a:schemeClr val="hlink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" name="Google Shape;167;p3"/>
            <p:cNvSpPr/>
            <p:nvPr/>
          </p:nvSpPr>
          <p:spPr>
            <a:xfrm>
              <a:off x="2254" y="1856"/>
              <a:ext cx="1262" cy="1264"/>
            </a:xfrm>
            <a:prstGeom prst="ellipse">
              <a:avLst/>
            </a:prstGeom>
            <a:gradFill>
              <a:gsLst>
                <a:gs pos="0">
                  <a:srgbClr val="000000"/>
                </a:gs>
                <a:gs pos="100000">
                  <a:srgbClr val="FFCC00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" name="Google Shape;168;p3"/>
            <p:cNvSpPr/>
            <p:nvPr/>
          </p:nvSpPr>
          <p:spPr>
            <a:xfrm>
              <a:off x="2337" y="1939"/>
              <a:ext cx="1096" cy="1098"/>
            </a:xfrm>
            <a:prstGeom prst="ellipse">
              <a:avLst/>
            </a:prstGeom>
            <a:gradFill>
              <a:gsLst>
                <a:gs pos="0">
                  <a:srgbClr val="034A91"/>
                </a:gs>
                <a:gs pos="50000">
                  <a:schemeClr val="hlink"/>
                </a:gs>
                <a:gs pos="100000">
                  <a:srgbClr val="034A91"/>
                </a:gs>
              </a:gsLst>
              <a:lin ang="189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" name="Google Shape;169;p3"/>
            <p:cNvSpPr/>
            <p:nvPr/>
          </p:nvSpPr>
          <p:spPr>
            <a:xfrm>
              <a:off x="2337" y="1939"/>
              <a:ext cx="1096" cy="1098"/>
            </a:xfrm>
            <a:prstGeom prst="ellipse">
              <a:avLst/>
            </a:prstGeom>
            <a:gradFill>
              <a:gsLst>
                <a:gs pos="0">
                  <a:srgbClr val="FFCC00"/>
                </a:gs>
                <a:gs pos="100000">
                  <a:srgbClr val="B79200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7" name="Google Shape;177;p3"/>
          <p:cNvGrpSpPr/>
          <p:nvPr/>
        </p:nvGrpSpPr>
        <p:grpSpPr>
          <a:xfrm>
            <a:off x="2303731" y="2054394"/>
            <a:ext cx="381000" cy="381000"/>
            <a:chOff x="2078" y="1680"/>
            <a:chExt cx="1615" cy="1615"/>
          </a:xfrm>
        </p:grpSpPr>
        <p:sp>
          <p:nvSpPr>
            <p:cNvPr id="178" name="Google Shape;178;p3"/>
            <p:cNvSpPr/>
            <p:nvPr/>
          </p:nvSpPr>
          <p:spPr>
            <a:xfrm>
              <a:off x="2078" y="1680"/>
              <a:ext cx="1615" cy="1615"/>
            </a:xfrm>
            <a:prstGeom prst="ellipse">
              <a:avLst/>
            </a:prstGeom>
            <a:gradFill>
              <a:gsLst>
                <a:gs pos="0">
                  <a:srgbClr val="B3B3B3"/>
                </a:gs>
                <a:gs pos="50000">
                  <a:srgbClr val="FFFFFF"/>
                </a:gs>
                <a:gs pos="100000">
                  <a:srgbClr val="B3B3B3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" name="Google Shape;179;p3"/>
            <p:cNvSpPr/>
            <p:nvPr/>
          </p:nvSpPr>
          <p:spPr>
            <a:xfrm>
              <a:off x="2170" y="1771"/>
              <a:ext cx="1430" cy="1430"/>
            </a:xfrm>
            <a:prstGeom prst="ellipse">
              <a:avLst/>
            </a:prstGeom>
            <a:gradFill>
              <a:gsLst>
                <a:gs pos="0">
                  <a:srgbClr val="CFCFCF"/>
                </a:gs>
                <a:gs pos="50000">
                  <a:srgbClr val="FFFFFF"/>
                </a:gs>
                <a:gs pos="100000">
                  <a:srgbClr val="CFCFCF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" name="Google Shape;180;p3"/>
            <p:cNvSpPr/>
            <p:nvPr/>
          </p:nvSpPr>
          <p:spPr>
            <a:xfrm>
              <a:off x="2254" y="1856"/>
              <a:ext cx="1262" cy="1264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50000">
                  <a:schemeClr val="hlink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" name="Google Shape;181;p3"/>
            <p:cNvSpPr/>
            <p:nvPr/>
          </p:nvSpPr>
          <p:spPr>
            <a:xfrm>
              <a:off x="2254" y="1856"/>
              <a:ext cx="1262" cy="1264"/>
            </a:xfrm>
            <a:prstGeom prst="ellipse">
              <a:avLst/>
            </a:prstGeom>
            <a:gradFill>
              <a:gsLst>
                <a:gs pos="0">
                  <a:srgbClr val="21B3E1"/>
                </a:gs>
                <a:gs pos="100000">
                  <a:srgbClr val="177E9E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" name="Google Shape;182;p3"/>
            <p:cNvSpPr/>
            <p:nvPr/>
          </p:nvSpPr>
          <p:spPr>
            <a:xfrm>
              <a:off x="2337" y="1939"/>
              <a:ext cx="1096" cy="1098"/>
            </a:xfrm>
            <a:prstGeom prst="ellipse">
              <a:avLst/>
            </a:prstGeom>
            <a:gradFill>
              <a:gsLst>
                <a:gs pos="0">
                  <a:srgbClr val="034A91"/>
                </a:gs>
                <a:gs pos="50000">
                  <a:schemeClr val="hlink"/>
                </a:gs>
                <a:gs pos="100000">
                  <a:srgbClr val="034A91"/>
                </a:gs>
              </a:gsLst>
              <a:lin ang="189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" name="Google Shape;183;p3"/>
            <p:cNvSpPr/>
            <p:nvPr/>
          </p:nvSpPr>
          <p:spPr>
            <a:xfrm>
              <a:off x="2337" y="1939"/>
              <a:ext cx="1096" cy="1098"/>
            </a:xfrm>
            <a:prstGeom prst="ellipse">
              <a:avLst/>
            </a:prstGeom>
            <a:gradFill>
              <a:gsLst>
                <a:gs pos="0">
                  <a:srgbClr val="21B3E1"/>
                </a:gs>
                <a:gs pos="100000">
                  <a:srgbClr val="1780A2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4" name="Google Shape;184;p3"/>
          <p:cNvGrpSpPr/>
          <p:nvPr/>
        </p:nvGrpSpPr>
        <p:grpSpPr>
          <a:xfrm>
            <a:off x="2568883" y="3311314"/>
            <a:ext cx="355600" cy="381000"/>
            <a:chOff x="2078" y="1680"/>
            <a:chExt cx="1615" cy="1615"/>
          </a:xfrm>
        </p:grpSpPr>
        <p:sp>
          <p:nvSpPr>
            <p:cNvPr id="185" name="Google Shape;185;p3"/>
            <p:cNvSpPr/>
            <p:nvPr/>
          </p:nvSpPr>
          <p:spPr>
            <a:xfrm>
              <a:off x="2078" y="1680"/>
              <a:ext cx="1615" cy="1615"/>
            </a:xfrm>
            <a:prstGeom prst="ellipse">
              <a:avLst/>
            </a:prstGeom>
            <a:gradFill>
              <a:gsLst>
                <a:gs pos="0">
                  <a:srgbClr val="B3B3B3"/>
                </a:gs>
                <a:gs pos="50000">
                  <a:srgbClr val="FFFFFF"/>
                </a:gs>
                <a:gs pos="100000">
                  <a:srgbClr val="B3B3B3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" name="Google Shape;186;p3"/>
            <p:cNvSpPr/>
            <p:nvPr/>
          </p:nvSpPr>
          <p:spPr>
            <a:xfrm>
              <a:off x="2170" y="1771"/>
              <a:ext cx="1430" cy="1430"/>
            </a:xfrm>
            <a:prstGeom prst="ellipse">
              <a:avLst/>
            </a:prstGeom>
            <a:gradFill>
              <a:gsLst>
                <a:gs pos="0">
                  <a:srgbClr val="CFCFCF"/>
                </a:gs>
                <a:gs pos="50000">
                  <a:srgbClr val="FFFFFF"/>
                </a:gs>
                <a:gs pos="100000">
                  <a:srgbClr val="CFCFCF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" name="Google Shape;187;p3"/>
            <p:cNvSpPr/>
            <p:nvPr/>
          </p:nvSpPr>
          <p:spPr>
            <a:xfrm>
              <a:off x="2254" y="1856"/>
              <a:ext cx="1262" cy="1264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50000">
                  <a:schemeClr val="hlink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" name="Google Shape;188;p3"/>
            <p:cNvSpPr/>
            <p:nvPr/>
          </p:nvSpPr>
          <p:spPr>
            <a:xfrm>
              <a:off x="2254" y="1856"/>
              <a:ext cx="1262" cy="1264"/>
            </a:xfrm>
            <a:prstGeom prst="ellipse">
              <a:avLst/>
            </a:prstGeom>
            <a:gradFill>
              <a:gsLst>
                <a:gs pos="0">
                  <a:srgbClr val="000000"/>
                </a:gs>
                <a:gs pos="100000">
                  <a:srgbClr val="E35E23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9" name="Google Shape;189;p3"/>
            <p:cNvSpPr/>
            <p:nvPr/>
          </p:nvSpPr>
          <p:spPr>
            <a:xfrm>
              <a:off x="2337" y="1939"/>
              <a:ext cx="1096" cy="1098"/>
            </a:xfrm>
            <a:prstGeom prst="ellipse">
              <a:avLst/>
            </a:prstGeom>
            <a:gradFill>
              <a:gsLst>
                <a:gs pos="0">
                  <a:srgbClr val="034A91"/>
                </a:gs>
                <a:gs pos="50000">
                  <a:schemeClr val="hlink"/>
                </a:gs>
                <a:gs pos="100000">
                  <a:srgbClr val="034A91"/>
                </a:gs>
              </a:gsLst>
              <a:lin ang="189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0" name="Google Shape;190;p3"/>
            <p:cNvSpPr/>
            <p:nvPr/>
          </p:nvSpPr>
          <p:spPr>
            <a:xfrm>
              <a:off x="2337" y="1939"/>
              <a:ext cx="1096" cy="1098"/>
            </a:xfrm>
            <a:prstGeom prst="ellipse">
              <a:avLst/>
            </a:prstGeom>
            <a:gradFill>
              <a:gsLst>
                <a:gs pos="0">
                  <a:srgbClr val="E35E23"/>
                </a:gs>
                <a:gs pos="100000">
                  <a:srgbClr val="A34319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9" name="Google Shape;199;p3"/>
          <p:cNvSpPr/>
          <p:nvPr/>
        </p:nvSpPr>
        <p:spPr>
          <a:xfrm rot="5400000">
            <a:off x="-2403921" y="1239529"/>
            <a:ext cx="4824413" cy="4770438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323" y="10641"/>
                </a:moveTo>
                <a:cubicBezTo>
                  <a:pt x="410" y="4916"/>
                  <a:pt x="5075" y="321"/>
                  <a:pt x="10800" y="322"/>
                </a:cubicBezTo>
                <a:cubicBezTo>
                  <a:pt x="16524" y="322"/>
                  <a:pt x="21189" y="4916"/>
                  <a:pt x="21276" y="10641"/>
                </a:cubicBezTo>
                <a:lnTo>
                  <a:pt x="21598" y="10636"/>
                </a:lnTo>
                <a:cubicBezTo>
                  <a:pt x="21509" y="4736"/>
                  <a:pt x="16700" y="-1"/>
                  <a:pt x="10799" y="0"/>
                </a:cubicBezTo>
                <a:cubicBezTo>
                  <a:pt x="4899" y="0"/>
                  <a:pt x="90" y="4736"/>
                  <a:pt x="1" y="10636"/>
                </a:cubicBezTo>
                <a:close/>
              </a:path>
            </a:pathLst>
          </a:custGeom>
          <a:gradFill>
            <a:gsLst>
              <a:gs pos="0">
                <a:srgbClr val="F4F4F4"/>
              </a:gs>
              <a:gs pos="50000">
                <a:schemeClr val="lt2"/>
              </a:gs>
              <a:gs pos="100000">
                <a:srgbClr val="F4F4F4"/>
              </a:gs>
            </a:gsLst>
            <a:lin ang="0" scaled="0"/>
          </a:gradFill>
          <a:ln w="9525" cap="flat" cmpd="sng">
            <a:solidFill>
              <a:srgbClr val="B3ABE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3"/>
          <p:cNvSpPr/>
          <p:nvPr/>
        </p:nvSpPr>
        <p:spPr>
          <a:xfrm rot="5400000" flipH="1">
            <a:off x="-1998313" y="1675297"/>
            <a:ext cx="4032250" cy="3929063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0744" y="10800"/>
                </a:moveTo>
                <a:cubicBezTo>
                  <a:pt x="10744" y="10769"/>
                  <a:pt x="10769" y="10744"/>
                  <a:pt x="10800" y="10744"/>
                </a:cubicBezTo>
                <a:cubicBezTo>
                  <a:pt x="10830" y="10743"/>
                  <a:pt x="10855" y="10769"/>
                  <a:pt x="10856" y="10799"/>
                </a:cubicBezTo>
                <a:lnTo>
                  <a:pt x="21600" y="10800"/>
                </a:lnTo>
                <a:cubicBezTo>
                  <a:pt x="21600" y="4835"/>
                  <a:pt x="16764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close/>
              </a:path>
            </a:pathLst>
          </a:custGeom>
          <a:solidFill>
            <a:srgbClr val="C1DBE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3"/>
          <p:cNvSpPr/>
          <p:nvPr/>
        </p:nvSpPr>
        <p:spPr>
          <a:xfrm>
            <a:off x="1893921" y="5758798"/>
            <a:ext cx="5424985" cy="508000"/>
          </a:xfrm>
          <a:prstGeom prst="roundRect">
            <a:avLst>
              <a:gd name="adj" fmla="val 50000"/>
            </a:avLst>
          </a:prstGeom>
          <a:noFill/>
          <a:ln w="2857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D0CECE"/>
                </a:solidFill>
                <a:latin typeface="Arial"/>
                <a:ea typeface="Arial"/>
                <a:cs typeface="Arial"/>
                <a:sym typeface="Arial"/>
              </a:rPr>
              <a:t>Q&amp;A</a:t>
            </a:r>
            <a:endParaRPr/>
          </a:p>
        </p:txBody>
      </p:sp>
      <p:sp>
        <p:nvSpPr>
          <p:cNvPr id="202" name="Google Shape;202;p3"/>
          <p:cNvSpPr/>
          <p:nvPr/>
        </p:nvSpPr>
        <p:spPr>
          <a:xfrm>
            <a:off x="2625911" y="4649232"/>
            <a:ext cx="5168900" cy="508000"/>
          </a:xfrm>
          <a:prstGeom prst="roundRect">
            <a:avLst>
              <a:gd name="adj" fmla="val 50000"/>
            </a:avLst>
          </a:prstGeom>
          <a:noFill/>
          <a:ln w="2857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1800" b="1" dirty="0">
                <a:solidFill>
                  <a:schemeClr val="tx1"/>
                </a:solidFill>
              </a:rPr>
              <a:t>Kết luận &amp; Hướng phát triển </a:t>
            </a:r>
            <a:endParaRPr sz="1800" b="1" dirty="0">
              <a:solidFill>
                <a:schemeClr val="tx1"/>
              </a:solidFill>
              <a:sym typeface="Arial"/>
            </a:endParaRPr>
          </a:p>
        </p:txBody>
      </p:sp>
      <p:grpSp>
        <p:nvGrpSpPr>
          <p:cNvPr id="203" name="Google Shape;203;p3"/>
          <p:cNvGrpSpPr/>
          <p:nvPr/>
        </p:nvGrpSpPr>
        <p:grpSpPr>
          <a:xfrm>
            <a:off x="2308411" y="4738132"/>
            <a:ext cx="381000" cy="381000"/>
            <a:chOff x="2078" y="1680"/>
            <a:chExt cx="1615" cy="1615"/>
          </a:xfrm>
        </p:grpSpPr>
        <p:sp>
          <p:nvSpPr>
            <p:cNvPr id="204" name="Google Shape;204;p3"/>
            <p:cNvSpPr/>
            <p:nvPr/>
          </p:nvSpPr>
          <p:spPr>
            <a:xfrm>
              <a:off x="2078" y="1680"/>
              <a:ext cx="1615" cy="1615"/>
            </a:xfrm>
            <a:prstGeom prst="ellipse">
              <a:avLst/>
            </a:prstGeom>
            <a:gradFill>
              <a:gsLst>
                <a:gs pos="0">
                  <a:srgbClr val="B3B3B3"/>
                </a:gs>
                <a:gs pos="50000">
                  <a:srgbClr val="FFFFFF"/>
                </a:gs>
                <a:gs pos="100000">
                  <a:srgbClr val="B3B3B3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" name="Google Shape;205;p3"/>
            <p:cNvSpPr/>
            <p:nvPr/>
          </p:nvSpPr>
          <p:spPr>
            <a:xfrm>
              <a:off x="2170" y="1771"/>
              <a:ext cx="1430" cy="1430"/>
            </a:xfrm>
            <a:prstGeom prst="ellipse">
              <a:avLst/>
            </a:prstGeom>
            <a:gradFill>
              <a:gsLst>
                <a:gs pos="0">
                  <a:srgbClr val="CFCFCF"/>
                </a:gs>
                <a:gs pos="50000">
                  <a:srgbClr val="FFFFFF"/>
                </a:gs>
                <a:gs pos="100000">
                  <a:srgbClr val="CFCFCF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" name="Google Shape;206;p3"/>
            <p:cNvSpPr/>
            <p:nvPr/>
          </p:nvSpPr>
          <p:spPr>
            <a:xfrm>
              <a:off x="2254" y="1856"/>
              <a:ext cx="1262" cy="1264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50000">
                  <a:schemeClr val="hlink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" name="Google Shape;207;p3"/>
            <p:cNvSpPr/>
            <p:nvPr/>
          </p:nvSpPr>
          <p:spPr>
            <a:xfrm>
              <a:off x="2254" y="1856"/>
              <a:ext cx="1262" cy="1264"/>
            </a:xfrm>
            <a:prstGeom prst="ellipse">
              <a:avLst/>
            </a:prstGeom>
            <a:gradFill>
              <a:gsLst>
                <a:gs pos="0">
                  <a:srgbClr val="000000"/>
                </a:gs>
                <a:gs pos="100000">
                  <a:srgbClr val="FFCC00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" name="Google Shape;208;p3"/>
            <p:cNvSpPr/>
            <p:nvPr/>
          </p:nvSpPr>
          <p:spPr>
            <a:xfrm>
              <a:off x="2337" y="1939"/>
              <a:ext cx="1096" cy="1098"/>
            </a:xfrm>
            <a:prstGeom prst="ellipse">
              <a:avLst/>
            </a:prstGeom>
            <a:gradFill>
              <a:gsLst>
                <a:gs pos="0">
                  <a:srgbClr val="034A91"/>
                </a:gs>
                <a:gs pos="50000">
                  <a:schemeClr val="hlink"/>
                </a:gs>
                <a:gs pos="100000">
                  <a:srgbClr val="034A91"/>
                </a:gs>
              </a:gsLst>
              <a:lin ang="189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" name="Google Shape;209;p3"/>
            <p:cNvSpPr/>
            <p:nvPr/>
          </p:nvSpPr>
          <p:spPr>
            <a:xfrm>
              <a:off x="2337" y="1939"/>
              <a:ext cx="1096" cy="1098"/>
            </a:xfrm>
            <a:prstGeom prst="ellipse">
              <a:avLst/>
            </a:prstGeom>
            <a:gradFill>
              <a:gsLst>
                <a:gs pos="0">
                  <a:srgbClr val="FFCC00"/>
                </a:gs>
                <a:gs pos="100000">
                  <a:srgbClr val="B79200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0" name="Google Shape;210;p3"/>
          <p:cNvGrpSpPr/>
          <p:nvPr/>
        </p:nvGrpSpPr>
        <p:grpSpPr>
          <a:xfrm>
            <a:off x="1589122" y="5865161"/>
            <a:ext cx="381000" cy="381000"/>
            <a:chOff x="2078" y="1680"/>
            <a:chExt cx="1615" cy="1615"/>
          </a:xfrm>
        </p:grpSpPr>
        <p:sp>
          <p:nvSpPr>
            <p:cNvPr id="211" name="Google Shape;211;p3"/>
            <p:cNvSpPr/>
            <p:nvPr/>
          </p:nvSpPr>
          <p:spPr>
            <a:xfrm>
              <a:off x="2078" y="1680"/>
              <a:ext cx="1615" cy="1615"/>
            </a:xfrm>
            <a:prstGeom prst="ellipse">
              <a:avLst/>
            </a:prstGeom>
            <a:gradFill>
              <a:gsLst>
                <a:gs pos="0">
                  <a:srgbClr val="B3B3B3"/>
                </a:gs>
                <a:gs pos="50000">
                  <a:srgbClr val="FFFFFF"/>
                </a:gs>
                <a:gs pos="100000">
                  <a:srgbClr val="B3B3B3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" name="Google Shape;212;p3"/>
            <p:cNvSpPr/>
            <p:nvPr/>
          </p:nvSpPr>
          <p:spPr>
            <a:xfrm>
              <a:off x="2170" y="1771"/>
              <a:ext cx="1430" cy="1430"/>
            </a:xfrm>
            <a:prstGeom prst="ellipse">
              <a:avLst/>
            </a:prstGeom>
            <a:gradFill>
              <a:gsLst>
                <a:gs pos="0">
                  <a:srgbClr val="CFCFCF"/>
                </a:gs>
                <a:gs pos="50000">
                  <a:srgbClr val="FFFFFF"/>
                </a:gs>
                <a:gs pos="100000">
                  <a:srgbClr val="CFCFCF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3" name="Google Shape;213;p3"/>
            <p:cNvSpPr/>
            <p:nvPr/>
          </p:nvSpPr>
          <p:spPr>
            <a:xfrm>
              <a:off x="2254" y="1856"/>
              <a:ext cx="1262" cy="1264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50000">
                  <a:schemeClr val="hlink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4" name="Google Shape;214;p3"/>
            <p:cNvSpPr/>
            <p:nvPr/>
          </p:nvSpPr>
          <p:spPr>
            <a:xfrm>
              <a:off x="2254" y="1856"/>
              <a:ext cx="1262" cy="1264"/>
            </a:xfrm>
            <a:prstGeom prst="ellipse">
              <a:avLst/>
            </a:prstGeom>
            <a:gradFill>
              <a:gsLst>
                <a:gs pos="0">
                  <a:srgbClr val="000000"/>
                </a:gs>
                <a:gs pos="100000">
                  <a:srgbClr val="48BE67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5" name="Google Shape;215;p3"/>
            <p:cNvSpPr/>
            <p:nvPr/>
          </p:nvSpPr>
          <p:spPr>
            <a:xfrm>
              <a:off x="2337" y="1939"/>
              <a:ext cx="1096" cy="1098"/>
            </a:xfrm>
            <a:prstGeom prst="ellipse">
              <a:avLst/>
            </a:prstGeom>
            <a:gradFill>
              <a:gsLst>
                <a:gs pos="0">
                  <a:srgbClr val="034A91"/>
                </a:gs>
                <a:gs pos="50000">
                  <a:schemeClr val="hlink"/>
                </a:gs>
                <a:gs pos="100000">
                  <a:srgbClr val="034A91"/>
                </a:gs>
              </a:gsLst>
              <a:lin ang="189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6" name="Google Shape;216;p3"/>
            <p:cNvSpPr/>
            <p:nvPr/>
          </p:nvSpPr>
          <p:spPr>
            <a:xfrm>
              <a:off x="2337" y="1939"/>
              <a:ext cx="1096" cy="1098"/>
            </a:xfrm>
            <a:prstGeom prst="ellipse">
              <a:avLst/>
            </a:prstGeom>
            <a:gradFill>
              <a:gsLst>
                <a:gs pos="0">
                  <a:srgbClr val="48BE67"/>
                </a:gs>
                <a:gs pos="100000">
                  <a:srgbClr val="33884A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758274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E0DDF4-60FF-4E0D-82DB-C606FF3379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Kết luận &amp; Hướng phát triển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1908F3-7D69-4887-9BC1-7F70C3CA86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endParaRPr lang="vi-VN" sz="1800" b="1" dirty="0"/>
          </a:p>
          <a:p>
            <a:pPr marL="114300" indent="0">
              <a:buNone/>
            </a:pPr>
            <a:r>
              <a:rPr lang="vi-VN" sz="1800" b="1" dirty="0"/>
              <a:t>Kết quả đạt được</a:t>
            </a:r>
          </a:p>
          <a:p>
            <a:r>
              <a:rPr lang="vi-VN" sz="1800" dirty="0"/>
              <a:t>Tìm hiểu về Framework Selenium, Pytest.</a:t>
            </a:r>
          </a:p>
          <a:p>
            <a:r>
              <a:rPr lang="vi-VN" sz="1800" dirty="0"/>
              <a:t>Áp dụng Mô hình Data-Driven, POM.</a:t>
            </a:r>
          </a:p>
          <a:p>
            <a:r>
              <a:rPr lang="vi-VN" sz="1800" dirty="0"/>
              <a:t>Kiểm thử chức năng: Đăng ký, Đăng nhập,...</a:t>
            </a:r>
          </a:p>
          <a:p>
            <a:r>
              <a:rPr lang="vi-VN" sz="1800" dirty="0"/>
              <a:t>Tích hợp Excel, báo cáo.</a:t>
            </a:r>
          </a:p>
          <a:p>
            <a:pPr marL="114300" indent="0">
              <a:buNone/>
            </a:pPr>
            <a:endParaRPr lang="vi-VN" sz="1800" dirty="0"/>
          </a:p>
          <a:p>
            <a:pPr marL="114300" indent="0">
              <a:buNone/>
            </a:pPr>
            <a:endParaRPr lang="vi-VN" sz="1800" dirty="0"/>
          </a:p>
          <a:p>
            <a:pPr marL="114300" indent="0">
              <a:buNone/>
            </a:pPr>
            <a:r>
              <a:rPr lang="vi-VN" sz="1800" b="1" dirty="0"/>
              <a:t>Hạn chế</a:t>
            </a:r>
          </a:p>
          <a:p>
            <a:r>
              <a:rPr lang="vi-VN" sz="1800" dirty="0"/>
              <a:t>Chưa bao phủ toàn bộ tính năng.</a:t>
            </a:r>
          </a:p>
          <a:p>
            <a:r>
              <a:rPr lang="vi-VN" sz="1800" dirty="0"/>
              <a:t>Chưa tích hợp CI/CD.</a:t>
            </a:r>
          </a:p>
          <a:p>
            <a:r>
              <a:rPr lang="vi-VN" sz="1800" dirty="0"/>
              <a:t>Chưa kiểm thử hiệu năng, cross-browser.</a:t>
            </a:r>
          </a:p>
          <a:p>
            <a:r>
              <a:rPr lang="vi-VN" sz="1800" dirty="0"/>
              <a:t>Xử lý yếu tố bất định còn thủ công.</a:t>
            </a:r>
          </a:p>
          <a:p>
            <a:pPr marL="1143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4608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"/>
          <p:cNvSpPr txBox="1">
            <a:spLocks noGrp="1"/>
          </p:cNvSpPr>
          <p:nvPr>
            <p:ph type="title"/>
          </p:nvPr>
        </p:nvSpPr>
        <p:spPr>
          <a:xfrm>
            <a:off x="290146" y="0"/>
            <a:ext cx="7658100" cy="589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</a:pPr>
            <a:r>
              <a:rPr lang="en-US" sz="3200"/>
              <a:t>Nội dung</a:t>
            </a:r>
            <a:endParaRPr/>
          </a:p>
        </p:txBody>
      </p:sp>
      <p:sp>
        <p:nvSpPr>
          <p:cNvPr id="159" name="Google Shape;159;p3"/>
          <p:cNvSpPr/>
          <p:nvPr/>
        </p:nvSpPr>
        <p:spPr>
          <a:xfrm>
            <a:off x="2823719" y="1991540"/>
            <a:ext cx="5612567" cy="508000"/>
          </a:xfrm>
          <a:prstGeom prst="roundRect">
            <a:avLst>
              <a:gd name="adj" fmla="val 50000"/>
            </a:avLst>
          </a:prstGeom>
          <a:noFill/>
          <a:ln w="2857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1800" b="1" dirty="0">
                <a:solidFill>
                  <a:srgbClr val="D0CECE"/>
                </a:solidFill>
                <a:sym typeface="Arial"/>
              </a:rPr>
              <a:t>Thiết kế và xây dựng framework</a:t>
            </a:r>
            <a:endParaRPr b="1" dirty="0">
              <a:solidFill>
                <a:srgbClr val="D0CECE"/>
              </a:solidFill>
            </a:endParaRPr>
          </a:p>
        </p:txBody>
      </p:sp>
      <p:sp>
        <p:nvSpPr>
          <p:cNvPr id="160" name="Google Shape;160;p3"/>
          <p:cNvSpPr/>
          <p:nvPr/>
        </p:nvSpPr>
        <p:spPr>
          <a:xfrm>
            <a:off x="3092010" y="3231999"/>
            <a:ext cx="5612567" cy="508000"/>
          </a:xfrm>
          <a:prstGeom prst="roundRect">
            <a:avLst>
              <a:gd name="adj" fmla="val 50000"/>
            </a:avLst>
          </a:prstGeom>
          <a:noFill/>
          <a:ln w="2857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1800" b="1" dirty="0">
                <a:solidFill>
                  <a:srgbClr val="D0CECE"/>
                </a:solidFill>
              </a:rPr>
              <a:t>Ứng dụng kiểm thử website Dụng cụ Bar Cafe</a:t>
            </a:r>
            <a:endParaRPr dirty="0">
              <a:solidFill>
                <a:srgbClr val="D0CECE"/>
              </a:solidFill>
            </a:endParaRPr>
          </a:p>
        </p:txBody>
      </p:sp>
      <p:sp>
        <p:nvSpPr>
          <p:cNvPr id="162" name="Google Shape;162;p3"/>
          <p:cNvSpPr/>
          <p:nvPr/>
        </p:nvSpPr>
        <p:spPr>
          <a:xfrm>
            <a:off x="1472079" y="866179"/>
            <a:ext cx="5168900" cy="508000"/>
          </a:xfrm>
          <a:prstGeom prst="roundRect">
            <a:avLst>
              <a:gd name="adj" fmla="val 50000"/>
            </a:avLst>
          </a:prstGeom>
          <a:noFill/>
          <a:ln w="2857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1800" b="1" dirty="0">
                <a:solidFill>
                  <a:srgbClr val="D0CECE"/>
                </a:solidFill>
              </a:rPr>
              <a:t>Giới thiệu đề tài </a:t>
            </a:r>
            <a:endParaRPr dirty="0">
              <a:solidFill>
                <a:srgbClr val="D0CECE"/>
              </a:solidFill>
            </a:endParaRPr>
          </a:p>
        </p:txBody>
      </p:sp>
      <p:grpSp>
        <p:nvGrpSpPr>
          <p:cNvPr id="163" name="Google Shape;163;p3"/>
          <p:cNvGrpSpPr/>
          <p:nvPr/>
        </p:nvGrpSpPr>
        <p:grpSpPr>
          <a:xfrm>
            <a:off x="1154579" y="955079"/>
            <a:ext cx="381000" cy="381000"/>
            <a:chOff x="2078" y="1680"/>
            <a:chExt cx="1615" cy="1615"/>
          </a:xfrm>
        </p:grpSpPr>
        <p:sp>
          <p:nvSpPr>
            <p:cNvPr id="164" name="Google Shape;164;p3"/>
            <p:cNvSpPr/>
            <p:nvPr/>
          </p:nvSpPr>
          <p:spPr>
            <a:xfrm>
              <a:off x="2078" y="1680"/>
              <a:ext cx="1615" cy="1615"/>
            </a:xfrm>
            <a:prstGeom prst="ellipse">
              <a:avLst/>
            </a:prstGeom>
            <a:gradFill>
              <a:gsLst>
                <a:gs pos="0">
                  <a:srgbClr val="B3B3B3"/>
                </a:gs>
                <a:gs pos="50000">
                  <a:srgbClr val="FFFFFF"/>
                </a:gs>
                <a:gs pos="100000">
                  <a:srgbClr val="B3B3B3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" name="Google Shape;165;p3"/>
            <p:cNvSpPr/>
            <p:nvPr/>
          </p:nvSpPr>
          <p:spPr>
            <a:xfrm>
              <a:off x="2170" y="1771"/>
              <a:ext cx="1430" cy="1430"/>
            </a:xfrm>
            <a:prstGeom prst="ellipse">
              <a:avLst/>
            </a:prstGeom>
            <a:gradFill>
              <a:gsLst>
                <a:gs pos="0">
                  <a:srgbClr val="CFCFCF"/>
                </a:gs>
                <a:gs pos="50000">
                  <a:srgbClr val="FFFFFF"/>
                </a:gs>
                <a:gs pos="100000">
                  <a:srgbClr val="CFCFCF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" name="Google Shape;166;p3"/>
            <p:cNvSpPr/>
            <p:nvPr/>
          </p:nvSpPr>
          <p:spPr>
            <a:xfrm>
              <a:off x="2254" y="1856"/>
              <a:ext cx="1262" cy="1264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50000">
                  <a:schemeClr val="hlink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" name="Google Shape;167;p3"/>
            <p:cNvSpPr/>
            <p:nvPr/>
          </p:nvSpPr>
          <p:spPr>
            <a:xfrm>
              <a:off x="2254" y="1856"/>
              <a:ext cx="1262" cy="1264"/>
            </a:xfrm>
            <a:prstGeom prst="ellipse">
              <a:avLst/>
            </a:prstGeom>
            <a:gradFill>
              <a:gsLst>
                <a:gs pos="0">
                  <a:srgbClr val="000000"/>
                </a:gs>
                <a:gs pos="100000">
                  <a:srgbClr val="FFCC00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" name="Google Shape;168;p3"/>
            <p:cNvSpPr/>
            <p:nvPr/>
          </p:nvSpPr>
          <p:spPr>
            <a:xfrm>
              <a:off x="2337" y="1939"/>
              <a:ext cx="1096" cy="1098"/>
            </a:xfrm>
            <a:prstGeom prst="ellipse">
              <a:avLst/>
            </a:prstGeom>
            <a:gradFill>
              <a:gsLst>
                <a:gs pos="0">
                  <a:srgbClr val="034A91"/>
                </a:gs>
                <a:gs pos="50000">
                  <a:schemeClr val="hlink"/>
                </a:gs>
                <a:gs pos="100000">
                  <a:srgbClr val="034A91"/>
                </a:gs>
              </a:gsLst>
              <a:lin ang="189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" name="Google Shape;169;p3"/>
            <p:cNvSpPr/>
            <p:nvPr/>
          </p:nvSpPr>
          <p:spPr>
            <a:xfrm>
              <a:off x="2337" y="1939"/>
              <a:ext cx="1096" cy="1098"/>
            </a:xfrm>
            <a:prstGeom prst="ellipse">
              <a:avLst/>
            </a:prstGeom>
            <a:gradFill>
              <a:gsLst>
                <a:gs pos="0">
                  <a:srgbClr val="FFCC00"/>
                </a:gs>
                <a:gs pos="100000">
                  <a:srgbClr val="B79200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7" name="Google Shape;177;p3"/>
          <p:cNvGrpSpPr/>
          <p:nvPr/>
        </p:nvGrpSpPr>
        <p:grpSpPr>
          <a:xfrm>
            <a:off x="2303731" y="2054394"/>
            <a:ext cx="381000" cy="381000"/>
            <a:chOff x="2078" y="1680"/>
            <a:chExt cx="1615" cy="1615"/>
          </a:xfrm>
        </p:grpSpPr>
        <p:sp>
          <p:nvSpPr>
            <p:cNvPr id="178" name="Google Shape;178;p3"/>
            <p:cNvSpPr/>
            <p:nvPr/>
          </p:nvSpPr>
          <p:spPr>
            <a:xfrm>
              <a:off x="2078" y="1680"/>
              <a:ext cx="1615" cy="1615"/>
            </a:xfrm>
            <a:prstGeom prst="ellipse">
              <a:avLst/>
            </a:prstGeom>
            <a:gradFill>
              <a:gsLst>
                <a:gs pos="0">
                  <a:srgbClr val="B3B3B3"/>
                </a:gs>
                <a:gs pos="50000">
                  <a:srgbClr val="FFFFFF"/>
                </a:gs>
                <a:gs pos="100000">
                  <a:srgbClr val="B3B3B3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" name="Google Shape;179;p3"/>
            <p:cNvSpPr/>
            <p:nvPr/>
          </p:nvSpPr>
          <p:spPr>
            <a:xfrm>
              <a:off x="2170" y="1771"/>
              <a:ext cx="1430" cy="1430"/>
            </a:xfrm>
            <a:prstGeom prst="ellipse">
              <a:avLst/>
            </a:prstGeom>
            <a:gradFill>
              <a:gsLst>
                <a:gs pos="0">
                  <a:srgbClr val="CFCFCF"/>
                </a:gs>
                <a:gs pos="50000">
                  <a:srgbClr val="FFFFFF"/>
                </a:gs>
                <a:gs pos="100000">
                  <a:srgbClr val="CFCFCF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" name="Google Shape;180;p3"/>
            <p:cNvSpPr/>
            <p:nvPr/>
          </p:nvSpPr>
          <p:spPr>
            <a:xfrm>
              <a:off x="2254" y="1856"/>
              <a:ext cx="1262" cy="1264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50000">
                  <a:schemeClr val="hlink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" name="Google Shape;181;p3"/>
            <p:cNvSpPr/>
            <p:nvPr/>
          </p:nvSpPr>
          <p:spPr>
            <a:xfrm>
              <a:off x="2254" y="1856"/>
              <a:ext cx="1262" cy="1264"/>
            </a:xfrm>
            <a:prstGeom prst="ellipse">
              <a:avLst/>
            </a:prstGeom>
            <a:gradFill>
              <a:gsLst>
                <a:gs pos="0">
                  <a:srgbClr val="21B3E1"/>
                </a:gs>
                <a:gs pos="100000">
                  <a:srgbClr val="177E9E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" name="Google Shape;182;p3"/>
            <p:cNvSpPr/>
            <p:nvPr/>
          </p:nvSpPr>
          <p:spPr>
            <a:xfrm>
              <a:off x="2337" y="1939"/>
              <a:ext cx="1096" cy="1098"/>
            </a:xfrm>
            <a:prstGeom prst="ellipse">
              <a:avLst/>
            </a:prstGeom>
            <a:gradFill>
              <a:gsLst>
                <a:gs pos="0">
                  <a:srgbClr val="034A91"/>
                </a:gs>
                <a:gs pos="50000">
                  <a:schemeClr val="hlink"/>
                </a:gs>
                <a:gs pos="100000">
                  <a:srgbClr val="034A91"/>
                </a:gs>
              </a:gsLst>
              <a:lin ang="189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" name="Google Shape;183;p3"/>
            <p:cNvSpPr/>
            <p:nvPr/>
          </p:nvSpPr>
          <p:spPr>
            <a:xfrm>
              <a:off x="2337" y="1939"/>
              <a:ext cx="1096" cy="1098"/>
            </a:xfrm>
            <a:prstGeom prst="ellipse">
              <a:avLst/>
            </a:prstGeom>
            <a:gradFill>
              <a:gsLst>
                <a:gs pos="0">
                  <a:srgbClr val="21B3E1"/>
                </a:gs>
                <a:gs pos="100000">
                  <a:srgbClr val="1780A2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4" name="Google Shape;184;p3"/>
          <p:cNvGrpSpPr/>
          <p:nvPr/>
        </p:nvGrpSpPr>
        <p:grpSpPr>
          <a:xfrm>
            <a:off x="2568883" y="3311314"/>
            <a:ext cx="355600" cy="381000"/>
            <a:chOff x="2078" y="1680"/>
            <a:chExt cx="1615" cy="1615"/>
          </a:xfrm>
        </p:grpSpPr>
        <p:sp>
          <p:nvSpPr>
            <p:cNvPr id="185" name="Google Shape;185;p3"/>
            <p:cNvSpPr/>
            <p:nvPr/>
          </p:nvSpPr>
          <p:spPr>
            <a:xfrm>
              <a:off x="2078" y="1680"/>
              <a:ext cx="1615" cy="1615"/>
            </a:xfrm>
            <a:prstGeom prst="ellipse">
              <a:avLst/>
            </a:prstGeom>
            <a:gradFill>
              <a:gsLst>
                <a:gs pos="0">
                  <a:srgbClr val="B3B3B3"/>
                </a:gs>
                <a:gs pos="50000">
                  <a:srgbClr val="FFFFFF"/>
                </a:gs>
                <a:gs pos="100000">
                  <a:srgbClr val="B3B3B3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" name="Google Shape;186;p3"/>
            <p:cNvSpPr/>
            <p:nvPr/>
          </p:nvSpPr>
          <p:spPr>
            <a:xfrm>
              <a:off x="2170" y="1771"/>
              <a:ext cx="1430" cy="1430"/>
            </a:xfrm>
            <a:prstGeom prst="ellipse">
              <a:avLst/>
            </a:prstGeom>
            <a:gradFill>
              <a:gsLst>
                <a:gs pos="0">
                  <a:srgbClr val="CFCFCF"/>
                </a:gs>
                <a:gs pos="50000">
                  <a:srgbClr val="FFFFFF"/>
                </a:gs>
                <a:gs pos="100000">
                  <a:srgbClr val="CFCFCF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" name="Google Shape;187;p3"/>
            <p:cNvSpPr/>
            <p:nvPr/>
          </p:nvSpPr>
          <p:spPr>
            <a:xfrm>
              <a:off x="2254" y="1856"/>
              <a:ext cx="1262" cy="1264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50000">
                  <a:schemeClr val="hlink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" name="Google Shape;188;p3"/>
            <p:cNvSpPr/>
            <p:nvPr/>
          </p:nvSpPr>
          <p:spPr>
            <a:xfrm>
              <a:off x="2254" y="1856"/>
              <a:ext cx="1262" cy="1264"/>
            </a:xfrm>
            <a:prstGeom prst="ellipse">
              <a:avLst/>
            </a:prstGeom>
            <a:gradFill>
              <a:gsLst>
                <a:gs pos="0">
                  <a:srgbClr val="000000"/>
                </a:gs>
                <a:gs pos="100000">
                  <a:srgbClr val="E35E23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9" name="Google Shape;189;p3"/>
            <p:cNvSpPr/>
            <p:nvPr/>
          </p:nvSpPr>
          <p:spPr>
            <a:xfrm>
              <a:off x="2337" y="1939"/>
              <a:ext cx="1096" cy="1098"/>
            </a:xfrm>
            <a:prstGeom prst="ellipse">
              <a:avLst/>
            </a:prstGeom>
            <a:gradFill>
              <a:gsLst>
                <a:gs pos="0">
                  <a:srgbClr val="034A91"/>
                </a:gs>
                <a:gs pos="50000">
                  <a:schemeClr val="hlink"/>
                </a:gs>
                <a:gs pos="100000">
                  <a:srgbClr val="034A91"/>
                </a:gs>
              </a:gsLst>
              <a:lin ang="189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0" name="Google Shape;190;p3"/>
            <p:cNvSpPr/>
            <p:nvPr/>
          </p:nvSpPr>
          <p:spPr>
            <a:xfrm>
              <a:off x="2337" y="1939"/>
              <a:ext cx="1096" cy="1098"/>
            </a:xfrm>
            <a:prstGeom prst="ellipse">
              <a:avLst/>
            </a:prstGeom>
            <a:gradFill>
              <a:gsLst>
                <a:gs pos="0">
                  <a:srgbClr val="E35E23"/>
                </a:gs>
                <a:gs pos="100000">
                  <a:srgbClr val="A34319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9" name="Google Shape;199;p3"/>
          <p:cNvSpPr/>
          <p:nvPr/>
        </p:nvSpPr>
        <p:spPr>
          <a:xfrm rot="5400000">
            <a:off x="-2403921" y="1239529"/>
            <a:ext cx="4824413" cy="4770438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323" y="10641"/>
                </a:moveTo>
                <a:cubicBezTo>
                  <a:pt x="410" y="4916"/>
                  <a:pt x="5075" y="321"/>
                  <a:pt x="10800" y="322"/>
                </a:cubicBezTo>
                <a:cubicBezTo>
                  <a:pt x="16524" y="322"/>
                  <a:pt x="21189" y="4916"/>
                  <a:pt x="21276" y="10641"/>
                </a:cubicBezTo>
                <a:lnTo>
                  <a:pt x="21598" y="10636"/>
                </a:lnTo>
                <a:cubicBezTo>
                  <a:pt x="21509" y="4736"/>
                  <a:pt x="16700" y="-1"/>
                  <a:pt x="10799" y="0"/>
                </a:cubicBezTo>
                <a:cubicBezTo>
                  <a:pt x="4899" y="0"/>
                  <a:pt x="90" y="4736"/>
                  <a:pt x="1" y="10636"/>
                </a:cubicBezTo>
                <a:close/>
              </a:path>
            </a:pathLst>
          </a:custGeom>
          <a:gradFill>
            <a:gsLst>
              <a:gs pos="0">
                <a:srgbClr val="F4F4F4"/>
              </a:gs>
              <a:gs pos="50000">
                <a:schemeClr val="lt2"/>
              </a:gs>
              <a:gs pos="100000">
                <a:srgbClr val="F4F4F4"/>
              </a:gs>
            </a:gsLst>
            <a:lin ang="0" scaled="0"/>
          </a:gradFill>
          <a:ln w="9525" cap="flat" cmpd="sng">
            <a:solidFill>
              <a:srgbClr val="B3ABE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3"/>
          <p:cNvSpPr/>
          <p:nvPr/>
        </p:nvSpPr>
        <p:spPr>
          <a:xfrm rot="5400000" flipH="1">
            <a:off x="-1998313" y="1675297"/>
            <a:ext cx="4032250" cy="3929063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0744" y="10800"/>
                </a:moveTo>
                <a:cubicBezTo>
                  <a:pt x="10744" y="10769"/>
                  <a:pt x="10769" y="10744"/>
                  <a:pt x="10800" y="10744"/>
                </a:cubicBezTo>
                <a:cubicBezTo>
                  <a:pt x="10830" y="10743"/>
                  <a:pt x="10855" y="10769"/>
                  <a:pt x="10856" y="10799"/>
                </a:cubicBezTo>
                <a:lnTo>
                  <a:pt x="21600" y="10800"/>
                </a:lnTo>
                <a:cubicBezTo>
                  <a:pt x="21600" y="4835"/>
                  <a:pt x="16764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close/>
              </a:path>
            </a:pathLst>
          </a:custGeom>
          <a:solidFill>
            <a:srgbClr val="C1DBE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3"/>
          <p:cNvSpPr/>
          <p:nvPr/>
        </p:nvSpPr>
        <p:spPr>
          <a:xfrm>
            <a:off x="1893921" y="5758798"/>
            <a:ext cx="5424985" cy="508000"/>
          </a:xfrm>
          <a:prstGeom prst="roundRect">
            <a:avLst>
              <a:gd name="adj" fmla="val 50000"/>
            </a:avLst>
          </a:prstGeom>
          <a:noFill/>
          <a:ln w="2857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tx1"/>
                </a:solidFill>
                <a:sym typeface="Arial"/>
              </a:rPr>
              <a:t>Q&amp;A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202" name="Google Shape;202;p3"/>
          <p:cNvSpPr/>
          <p:nvPr/>
        </p:nvSpPr>
        <p:spPr>
          <a:xfrm>
            <a:off x="2625911" y="4649232"/>
            <a:ext cx="5168900" cy="508000"/>
          </a:xfrm>
          <a:prstGeom prst="roundRect">
            <a:avLst>
              <a:gd name="adj" fmla="val 50000"/>
            </a:avLst>
          </a:prstGeom>
          <a:noFill/>
          <a:ln w="2857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1800" b="1" dirty="0">
                <a:solidFill>
                  <a:srgbClr val="D0CECE"/>
                </a:solidFill>
              </a:rPr>
              <a:t>Kết luận &amp; Hướng phát triển </a:t>
            </a:r>
            <a:endParaRPr sz="1800" b="1" dirty="0">
              <a:solidFill>
                <a:srgbClr val="D0CEC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3" name="Google Shape;203;p3"/>
          <p:cNvGrpSpPr/>
          <p:nvPr/>
        </p:nvGrpSpPr>
        <p:grpSpPr>
          <a:xfrm>
            <a:off x="2308411" y="4738132"/>
            <a:ext cx="381000" cy="381000"/>
            <a:chOff x="2078" y="1680"/>
            <a:chExt cx="1615" cy="1615"/>
          </a:xfrm>
        </p:grpSpPr>
        <p:sp>
          <p:nvSpPr>
            <p:cNvPr id="204" name="Google Shape;204;p3"/>
            <p:cNvSpPr/>
            <p:nvPr/>
          </p:nvSpPr>
          <p:spPr>
            <a:xfrm>
              <a:off x="2078" y="1680"/>
              <a:ext cx="1615" cy="1615"/>
            </a:xfrm>
            <a:prstGeom prst="ellipse">
              <a:avLst/>
            </a:prstGeom>
            <a:gradFill>
              <a:gsLst>
                <a:gs pos="0">
                  <a:srgbClr val="B3B3B3"/>
                </a:gs>
                <a:gs pos="50000">
                  <a:srgbClr val="FFFFFF"/>
                </a:gs>
                <a:gs pos="100000">
                  <a:srgbClr val="B3B3B3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" name="Google Shape;205;p3"/>
            <p:cNvSpPr/>
            <p:nvPr/>
          </p:nvSpPr>
          <p:spPr>
            <a:xfrm>
              <a:off x="2170" y="1771"/>
              <a:ext cx="1430" cy="1430"/>
            </a:xfrm>
            <a:prstGeom prst="ellipse">
              <a:avLst/>
            </a:prstGeom>
            <a:gradFill>
              <a:gsLst>
                <a:gs pos="0">
                  <a:srgbClr val="CFCFCF"/>
                </a:gs>
                <a:gs pos="50000">
                  <a:srgbClr val="FFFFFF"/>
                </a:gs>
                <a:gs pos="100000">
                  <a:srgbClr val="CFCFCF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" name="Google Shape;206;p3"/>
            <p:cNvSpPr/>
            <p:nvPr/>
          </p:nvSpPr>
          <p:spPr>
            <a:xfrm>
              <a:off x="2254" y="1856"/>
              <a:ext cx="1262" cy="1264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50000">
                  <a:schemeClr val="hlink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" name="Google Shape;207;p3"/>
            <p:cNvSpPr/>
            <p:nvPr/>
          </p:nvSpPr>
          <p:spPr>
            <a:xfrm>
              <a:off x="2254" y="1856"/>
              <a:ext cx="1262" cy="1264"/>
            </a:xfrm>
            <a:prstGeom prst="ellipse">
              <a:avLst/>
            </a:prstGeom>
            <a:gradFill>
              <a:gsLst>
                <a:gs pos="0">
                  <a:srgbClr val="000000"/>
                </a:gs>
                <a:gs pos="100000">
                  <a:srgbClr val="FFCC00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" name="Google Shape;208;p3"/>
            <p:cNvSpPr/>
            <p:nvPr/>
          </p:nvSpPr>
          <p:spPr>
            <a:xfrm>
              <a:off x="2337" y="1939"/>
              <a:ext cx="1096" cy="1098"/>
            </a:xfrm>
            <a:prstGeom prst="ellipse">
              <a:avLst/>
            </a:prstGeom>
            <a:gradFill>
              <a:gsLst>
                <a:gs pos="0">
                  <a:srgbClr val="034A91"/>
                </a:gs>
                <a:gs pos="50000">
                  <a:schemeClr val="hlink"/>
                </a:gs>
                <a:gs pos="100000">
                  <a:srgbClr val="034A91"/>
                </a:gs>
              </a:gsLst>
              <a:lin ang="189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" name="Google Shape;209;p3"/>
            <p:cNvSpPr/>
            <p:nvPr/>
          </p:nvSpPr>
          <p:spPr>
            <a:xfrm>
              <a:off x="2337" y="1939"/>
              <a:ext cx="1096" cy="1098"/>
            </a:xfrm>
            <a:prstGeom prst="ellipse">
              <a:avLst/>
            </a:prstGeom>
            <a:gradFill>
              <a:gsLst>
                <a:gs pos="0">
                  <a:srgbClr val="FFCC00"/>
                </a:gs>
                <a:gs pos="100000">
                  <a:srgbClr val="B79200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0" name="Google Shape;210;p3"/>
          <p:cNvGrpSpPr/>
          <p:nvPr/>
        </p:nvGrpSpPr>
        <p:grpSpPr>
          <a:xfrm>
            <a:off x="1589122" y="5865161"/>
            <a:ext cx="381000" cy="381000"/>
            <a:chOff x="2078" y="1680"/>
            <a:chExt cx="1615" cy="1615"/>
          </a:xfrm>
        </p:grpSpPr>
        <p:sp>
          <p:nvSpPr>
            <p:cNvPr id="211" name="Google Shape;211;p3"/>
            <p:cNvSpPr/>
            <p:nvPr/>
          </p:nvSpPr>
          <p:spPr>
            <a:xfrm>
              <a:off x="2078" y="1680"/>
              <a:ext cx="1615" cy="1615"/>
            </a:xfrm>
            <a:prstGeom prst="ellipse">
              <a:avLst/>
            </a:prstGeom>
            <a:gradFill>
              <a:gsLst>
                <a:gs pos="0">
                  <a:srgbClr val="B3B3B3"/>
                </a:gs>
                <a:gs pos="50000">
                  <a:srgbClr val="FFFFFF"/>
                </a:gs>
                <a:gs pos="100000">
                  <a:srgbClr val="B3B3B3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" name="Google Shape;212;p3"/>
            <p:cNvSpPr/>
            <p:nvPr/>
          </p:nvSpPr>
          <p:spPr>
            <a:xfrm>
              <a:off x="2170" y="1771"/>
              <a:ext cx="1430" cy="1430"/>
            </a:xfrm>
            <a:prstGeom prst="ellipse">
              <a:avLst/>
            </a:prstGeom>
            <a:gradFill>
              <a:gsLst>
                <a:gs pos="0">
                  <a:srgbClr val="CFCFCF"/>
                </a:gs>
                <a:gs pos="50000">
                  <a:srgbClr val="FFFFFF"/>
                </a:gs>
                <a:gs pos="100000">
                  <a:srgbClr val="CFCFCF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3" name="Google Shape;213;p3"/>
            <p:cNvSpPr/>
            <p:nvPr/>
          </p:nvSpPr>
          <p:spPr>
            <a:xfrm>
              <a:off x="2254" y="1856"/>
              <a:ext cx="1262" cy="1264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50000">
                  <a:schemeClr val="hlink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4" name="Google Shape;214;p3"/>
            <p:cNvSpPr/>
            <p:nvPr/>
          </p:nvSpPr>
          <p:spPr>
            <a:xfrm>
              <a:off x="2254" y="1856"/>
              <a:ext cx="1262" cy="1264"/>
            </a:xfrm>
            <a:prstGeom prst="ellipse">
              <a:avLst/>
            </a:prstGeom>
            <a:gradFill>
              <a:gsLst>
                <a:gs pos="0">
                  <a:srgbClr val="000000"/>
                </a:gs>
                <a:gs pos="100000">
                  <a:srgbClr val="48BE67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5" name="Google Shape;215;p3"/>
            <p:cNvSpPr/>
            <p:nvPr/>
          </p:nvSpPr>
          <p:spPr>
            <a:xfrm>
              <a:off x="2337" y="1939"/>
              <a:ext cx="1096" cy="1098"/>
            </a:xfrm>
            <a:prstGeom prst="ellipse">
              <a:avLst/>
            </a:prstGeom>
            <a:gradFill>
              <a:gsLst>
                <a:gs pos="0">
                  <a:srgbClr val="034A91"/>
                </a:gs>
                <a:gs pos="50000">
                  <a:schemeClr val="hlink"/>
                </a:gs>
                <a:gs pos="100000">
                  <a:srgbClr val="034A91"/>
                </a:gs>
              </a:gsLst>
              <a:lin ang="189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6" name="Google Shape;216;p3"/>
            <p:cNvSpPr/>
            <p:nvPr/>
          </p:nvSpPr>
          <p:spPr>
            <a:xfrm>
              <a:off x="2337" y="1939"/>
              <a:ext cx="1096" cy="1098"/>
            </a:xfrm>
            <a:prstGeom prst="ellipse">
              <a:avLst/>
            </a:prstGeom>
            <a:gradFill>
              <a:gsLst>
                <a:gs pos="0">
                  <a:srgbClr val="48BE67"/>
                </a:gs>
                <a:gs pos="100000">
                  <a:srgbClr val="33884A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408291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940C45-2E0C-4297-A229-9012E964AD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>
                <a:latin typeface="+mn-lt"/>
              </a:rPr>
              <a:t>Q&amp;A</a:t>
            </a:r>
            <a:endParaRPr lang="en-US" dirty="0">
              <a:latin typeface="+mn-lt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66E52A-B399-4E50-8F46-894B53A185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0737" y="862013"/>
            <a:ext cx="7132050" cy="60935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14300" indent="0" algn="ctr">
              <a:buNone/>
            </a:pPr>
            <a:r>
              <a:rPr lang="en-US" sz="2800" b="1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“Learning to code can change your life”</a:t>
            </a:r>
          </a:p>
        </p:txBody>
      </p:sp>
      <p:pic>
        <p:nvPicPr>
          <p:cNvPr id="5" name="Picture 2" descr="Image result for Q&amp;A">
            <a:extLst>
              <a:ext uri="{FF2B5EF4-FFF2-40B4-BE49-F238E27FC236}">
                <a16:creationId xmlns:a16="http://schemas.microsoft.com/office/drawing/2014/main" id="{652982FD-83F2-46A5-8B14-5AB5843287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0850" y="1619250"/>
            <a:ext cx="3162300" cy="3162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B4F69E6-D957-43A4-854E-CDFB48BD64A3}"/>
              </a:ext>
            </a:extLst>
          </p:cNvPr>
          <p:cNvSpPr/>
          <p:nvPr/>
        </p:nvSpPr>
        <p:spPr>
          <a:xfrm>
            <a:off x="310173" y="4781550"/>
            <a:ext cx="8523654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vi-VN" sz="2800" i="1" dirty="0">
                <a:solidFill>
                  <a:srgbClr val="0A0A0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</a:t>
            </a:r>
            <a:r>
              <a:rPr lang="en-US" sz="2800" i="1" dirty="0">
                <a:solidFill>
                  <a:srgbClr val="0A0A0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Everybody in this country should learn to program </a:t>
            </a:r>
            <a:br>
              <a:rPr lang="en-US" sz="2800" i="1" dirty="0">
                <a:solidFill>
                  <a:srgbClr val="0A0A0A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800" i="1" dirty="0">
                <a:solidFill>
                  <a:srgbClr val="0A0A0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computer, because it teaches you how to think.</a:t>
            </a:r>
            <a:r>
              <a:rPr lang="vi-VN" sz="2800" i="1" dirty="0">
                <a:solidFill>
                  <a:srgbClr val="0A0A0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”</a:t>
            </a:r>
            <a:endParaRPr lang="en-US" sz="2800" dirty="0">
              <a:solidFill>
                <a:srgbClr val="0A0A0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/>
            <a:endParaRPr lang="en-US" sz="2800" b="1" dirty="0">
              <a:solidFill>
                <a:srgbClr val="0A0A0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/>
            <a:r>
              <a:rPr lang="en-US" sz="2800" b="1" dirty="0">
                <a:solidFill>
                  <a:srgbClr val="0A0A0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-- 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Steve Jobs --</a:t>
            </a:r>
          </a:p>
        </p:txBody>
      </p:sp>
    </p:spTree>
    <p:extLst>
      <p:ext uri="{BB962C8B-B14F-4D97-AF65-F5344CB8AC3E}">
        <p14:creationId xmlns:p14="http://schemas.microsoft.com/office/powerpoint/2010/main" val="13643878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6"/>
          <p:cNvSpPr txBox="1">
            <a:spLocks noGrp="1"/>
          </p:cNvSpPr>
          <p:nvPr>
            <p:ph type="title"/>
          </p:nvPr>
        </p:nvSpPr>
        <p:spPr>
          <a:xfrm>
            <a:off x="628650" y="355795"/>
            <a:ext cx="7886700" cy="6145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859</TotalTime>
  <Words>973</Words>
  <Application>Microsoft Office PowerPoint</Application>
  <PresentationFormat>On-screen Show (4:3)</PresentationFormat>
  <Paragraphs>159</Paragraphs>
  <Slides>16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Arial Unicode MS</vt:lpstr>
      <vt:lpstr>Calibri</vt:lpstr>
      <vt:lpstr>Office Theme</vt:lpstr>
      <vt:lpstr> KIỂM THỬ TỰ ĐỘNG VÀ XÂY DỰNG FRAMEWORK DỰA  TRÊN SELENIUM CHO WEBSITE DỤNG CỤ BAR CAFE  </vt:lpstr>
      <vt:lpstr>Nội dung</vt:lpstr>
      <vt:lpstr>Nội dung</vt:lpstr>
      <vt:lpstr>Giới thiệu đề tài</vt:lpstr>
      <vt:lpstr>Nội dung</vt:lpstr>
      <vt:lpstr> Thiết kế và xây dựng framework </vt:lpstr>
      <vt:lpstr> Thiết kế và xây dựng framework </vt:lpstr>
      <vt:lpstr> Thiết kế và xây dựng framework </vt:lpstr>
      <vt:lpstr> Thiết kế và xây dựng framework </vt:lpstr>
      <vt:lpstr>Nội dung</vt:lpstr>
      <vt:lpstr>Ứng dụng kiểm thử website Dụng cụ Bar Cafe</vt:lpstr>
      <vt:lpstr>Nội dung</vt:lpstr>
      <vt:lpstr>Kết luận &amp; Hướng phát triển</vt:lpstr>
      <vt:lpstr>Nội dung</vt:lpstr>
      <vt:lpstr>Q&amp;A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KẾ HOẠCH PHÁT TRIỂN. QUẢN LÝ CẤU HÌNH PHẦN MỀM BẰNG SVN Đảm bảo chất lượng phần mềm</dc:title>
  <dc:creator>Đỗ Thị Thu Trang</dc:creator>
  <cp:lastModifiedBy>hoangnguyet1424@gmail.com</cp:lastModifiedBy>
  <cp:revision>144</cp:revision>
  <dcterms:created xsi:type="dcterms:W3CDTF">2024-09-27T15:40:07Z</dcterms:created>
  <dcterms:modified xsi:type="dcterms:W3CDTF">2025-10-26T23:36:39Z</dcterms:modified>
</cp:coreProperties>
</file>